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486" r:id="rId3"/>
    <p:sldId id="487" r:id="rId5"/>
    <p:sldId id="488" r:id="rId6"/>
    <p:sldId id="489" r:id="rId7"/>
    <p:sldId id="490" r:id="rId8"/>
    <p:sldId id="491" r:id="rId9"/>
    <p:sldId id="495" r:id="rId10"/>
    <p:sldId id="496" r:id="rId11"/>
    <p:sldId id="502" r:id="rId12"/>
    <p:sldId id="503" r:id="rId13"/>
    <p:sldId id="504" r:id="rId14"/>
    <p:sldId id="508" r:id="rId15"/>
    <p:sldId id="531" r:id="rId16"/>
    <p:sldId id="513" r:id="rId17"/>
    <p:sldId id="528" r:id="rId18"/>
    <p:sldId id="529" r:id="rId19"/>
    <p:sldId id="519" r:id="rId20"/>
    <p:sldId id="521" r:id="rId21"/>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647F"/>
    <a:srgbClr val="03307F"/>
    <a:srgbClr val="0231A7"/>
    <a:srgbClr val="8FC320"/>
    <a:srgbClr val="990100"/>
    <a:srgbClr val="9C0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83.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30CF34-5466-4C09-8B8B-5A958BCAE99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3EEB3-6DEA-48F1-9CD4-EDC2A04DB0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defRPr/>
            </a:pPr>
            <a:fld id="{D712715C-60D8-4442-95C1-470452B8606C}"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showMasterSp="0">
  <p:cSld name="1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a:xfrm>
            <a:off x="10849147" y="6382534"/>
            <a:ext cx="1093711" cy="369332"/>
          </a:xfrm>
          <a:prstGeom prst="rect">
            <a:avLst/>
          </a:prstGeom>
        </p:spPr>
        <p:txBody>
          <a:bodyPr lIns="91440" tIns="45720" rIns="91440" bIns="45720"/>
          <a:lstStyle/>
          <a:p>
            <a:pPr algn="ctr">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第 </a:t>
            </a:r>
            <a:fld id="{2EEF1883-7A0E-4F66-9932-E581691AD397}" type="slidenum">
              <a:rPr lang="zh-CN" altLang="en-US" sz="1600">
                <a:solidFill>
                  <a:schemeClr val="tx1">
                    <a:lumMod val="65000"/>
                    <a:lumOff val="35000"/>
                  </a:schemeClr>
                </a:solidFill>
              </a:rPr>
            </a:fld>
            <a:r>
              <a:rPr lang="zh-CN" altLang="en-US" sz="1600" dirty="0">
                <a:solidFill>
                  <a:schemeClr val="tx1">
                    <a:lumMod val="65000"/>
                    <a:lumOff val="35000"/>
                  </a:schemeClr>
                </a:solidFill>
              </a:rPr>
              <a:t>  </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页</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 name="文本框 4"/>
          <p:cNvSpPr txBox="1"/>
          <p:nvPr userDrawn="1"/>
        </p:nvSpPr>
        <p:spPr>
          <a:xfrm>
            <a:off x="0" y="6334780"/>
            <a:ext cx="3600400" cy="523220"/>
          </a:xfrm>
          <a:prstGeom prst="rect">
            <a:avLst/>
          </a:prstGeom>
          <a:noFill/>
        </p:spPr>
        <p:txBody>
          <a:bodyPr wrap="square">
            <a:spAutoFit/>
          </a:bodyPr>
          <a:lstStyle/>
          <a:p>
            <a:r>
              <a:rPr lang="zh-CN" altLang="en-US" sz="2800" b="0" i="0" dirty="0">
                <a:solidFill>
                  <a:schemeClr val="lt1">
                    <a:lumMod val="50000"/>
                  </a:schemeClr>
                </a:solidFill>
                <a:effectLst/>
                <a:latin typeface="隶书" panose="02010509060101010101" pitchFamily="49" charset="-122"/>
                <a:ea typeface="隶书" panose="02010509060101010101" pitchFamily="49" charset="-122"/>
              </a:rPr>
              <a:t>红专并进 理实交融</a:t>
            </a:r>
            <a:endParaRPr lang="zh-CN" altLang="en-US" sz="2800" b="0" i="0" dirty="0">
              <a:solidFill>
                <a:schemeClr val="lt1">
                  <a:lumMod val="50000"/>
                </a:schemeClr>
              </a:solidFill>
              <a:effectLst/>
              <a:latin typeface="隶书" panose="02010509060101010101" pitchFamily="49" charset="-122"/>
              <a:ea typeface="隶书" panose="02010509060101010101" pitchFamily="49" charset="-122"/>
            </a:endParaRPr>
          </a:p>
        </p:txBody>
      </p:sp>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t="34251" b="37400"/>
          <a:stretch>
            <a:fillRect/>
          </a:stretch>
        </p:blipFill>
        <p:spPr>
          <a:xfrm>
            <a:off x="9624392" y="116632"/>
            <a:ext cx="2437904" cy="6911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文本框 3"/>
          <p:cNvSpPr txBox="1"/>
          <p:nvPr userDrawn="1"/>
        </p:nvSpPr>
        <p:spPr>
          <a:xfrm>
            <a:off x="0" y="6334780"/>
            <a:ext cx="3600400" cy="523220"/>
          </a:xfrm>
          <a:prstGeom prst="rect">
            <a:avLst/>
          </a:prstGeom>
          <a:noFill/>
        </p:spPr>
        <p:txBody>
          <a:bodyPr wrap="square">
            <a:spAutoFit/>
          </a:bodyPr>
          <a:lstStyle/>
          <a:p>
            <a:r>
              <a:rPr lang="zh-CN" altLang="en-US" sz="2800" b="0" i="0" dirty="0">
                <a:solidFill>
                  <a:schemeClr val="lt1">
                    <a:lumMod val="50000"/>
                  </a:schemeClr>
                </a:solidFill>
                <a:effectLst/>
                <a:latin typeface="隶书" panose="02010509060101010101" pitchFamily="49" charset="-122"/>
                <a:ea typeface="隶书" panose="02010509060101010101" pitchFamily="49" charset="-122"/>
              </a:rPr>
              <a:t>红专并进 理实交融</a:t>
            </a:r>
            <a:endParaRPr lang="zh-CN" altLang="en-US" sz="2800" b="0" i="0" dirty="0">
              <a:solidFill>
                <a:schemeClr val="lt1">
                  <a:lumMod val="50000"/>
                </a:schemeClr>
              </a:solidFill>
              <a:effectLst/>
              <a:latin typeface="隶书" panose="02010509060101010101" pitchFamily="49" charset="-122"/>
              <a:ea typeface="隶书" panose="02010509060101010101" pitchFamily="49" charset="-122"/>
            </a:endParaRPr>
          </a:p>
        </p:txBody>
      </p:sp>
      <p:pic>
        <p:nvPicPr>
          <p:cNvPr id="5" name="图片 4"/>
          <p:cNvPicPr>
            <a:picLocks noChangeAspect="1"/>
          </p:cNvPicPr>
          <p:nvPr userDrawn="1"/>
        </p:nvPicPr>
        <p:blipFill rotWithShape="1">
          <a:blip r:embed="rId3" cstate="print">
            <a:extLst>
              <a:ext uri="{28A0092B-C50C-407E-A947-70E740481C1C}">
                <a14:useLocalDpi xmlns:a14="http://schemas.microsoft.com/office/drawing/2010/main" val="0"/>
              </a:ext>
            </a:extLst>
          </a:blip>
          <a:srcRect t="34251" b="37400"/>
          <a:stretch>
            <a:fillRect/>
          </a:stretch>
        </p:blipFill>
        <p:spPr>
          <a:xfrm>
            <a:off x="9624392" y="116632"/>
            <a:ext cx="2437904" cy="69113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hf hdr="0" dt="0"/>
  <p:txStyles>
    <p:titleStyle>
      <a:lvl1pPr algn="l" defTabSz="914400" rtl="0" eaLnBrk="1" latinLnBrk="0" hangingPunct="1">
        <a:lnSpc>
          <a:spcPct val="90000"/>
        </a:lnSpc>
        <a:spcBef>
          <a:spcPct val="0"/>
        </a:spcBef>
        <a:buNone/>
        <a:defRPr sz="32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356870" indent="-356870" algn="just" defTabSz="914400" rtl="0" eaLnBrk="1" latinLnBrk="0" hangingPunct="1">
        <a:lnSpc>
          <a:spcPct val="110000"/>
        </a:lnSpc>
        <a:spcBef>
          <a:spcPts val="1800"/>
        </a:spcBef>
        <a:spcAft>
          <a:spcPts val="0"/>
        </a:spcAft>
        <a:buClr>
          <a:schemeClr val="accent2">
            <a:lumMod val="75000"/>
          </a:schemeClr>
        </a:buClr>
        <a:buSzPct val="70000"/>
        <a:buFont typeface="Wingdings 2" panose="05020102010507070707" pitchFamily="18" charset="2"/>
        <a:buChar char=""/>
        <a:defRPr sz="2000" kern="1200" baseline="0">
          <a:solidFill>
            <a:srgbClr val="071F65"/>
          </a:solidFill>
          <a:latin typeface="Arial" panose="020B0604020202020204" pitchFamily="34" charset="0"/>
          <a:ea typeface="微软雅黑" panose="020B0503020204020204" pitchFamily="34" charset="-122"/>
          <a:cs typeface="+mn-cs"/>
        </a:defRPr>
      </a:lvl1pPr>
      <a:lvl2pPr marL="356870" indent="-356870" algn="just" defTabSz="914400" rtl="0" eaLnBrk="1" latinLnBrk="0" hangingPunct="1">
        <a:lnSpc>
          <a:spcPct val="130000"/>
        </a:lnSpc>
        <a:spcBef>
          <a:spcPts val="0"/>
        </a:spcBef>
        <a:spcAft>
          <a:spcPts val="600"/>
        </a:spcAft>
        <a:buClr>
          <a:schemeClr val="accent2">
            <a:lumMod val="60000"/>
            <a:lumOff val="40000"/>
          </a:schemeClr>
        </a:buClr>
        <a:buFont typeface="幼圆" panose="02010509060101010101" pitchFamily="49" charset="-122"/>
        <a:buChar char=" "/>
        <a:defRPr sz="1600" kern="1200" baseline="0">
          <a:solidFill>
            <a:srgbClr val="071F65"/>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en-US"/>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themeOverride" Target="../theme/themeOverride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hemeOverride" Target="../theme/themeOverride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themeOverride" Target="../theme/themeOverride5.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5" Type="http://schemas.openxmlformats.org/officeDocument/2006/relationships/notesSlide" Target="../notesSlides/notesSlide6.xml"/><Relationship Id="rId14" Type="http://schemas.openxmlformats.org/officeDocument/2006/relationships/slideLayout" Target="../slideLayouts/slideLayout2.xml"/><Relationship Id="rId13" Type="http://schemas.openxmlformats.org/officeDocument/2006/relationships/themeOverride" Target="../theme/themeOverride6.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hemeOverride" Target="../theme/themeOverride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hemeOverride" Target="../theme/themeOverride8.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hemeOverride" Target="../theme/themeOverride9.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6" Type="http://schemas.openxmlformats.org/officeDocument/2006/relationships/notesSlide" Target="../notesSlides/notesSlide11.xml"/><Relationship Id="rId15" Type="http://schemas.openxmlformats.org/officeDocument/2006/relationships/slideLayout" Target="../slideLayouts/slideLayout2.xml"/><Relationship Id="rId14" Type="http://schemas.openxmlformats.org/officeDocument/2006/relationships/themeOverride" Target="../theme/themeOverride11.xml"/><Relationship Id="rId13" Type="http://schemas.openxmlformats.org/officeDocument/2006/relationships/image" Target="../media/image8.emf"/><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hemeOverride" Target="../theme/themeOverride1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7" Type="http://schemas.openxmlformats.org/officeDocument/2006/relationships/notesSlide" Target="../notesSlides/notesSlide13.xml"/><Relationship Id="rId46" Type="http://schemas.openxmlformats.org/officeDocument/2006/relationships/slideLayout" Target="../slideLayouts/slideLayout2.xml"/><Relationship Id="rId45" Type="http://schemas.openxmlformats.org/officeDocument/2006/relationships/themeOverride" Target="../theme/themeOverride13.xml"/><Relationship Id="rId44" Type="http://schemas.openxmlformats.org/officeDocument/2006/relationships/image" Target="../media/image12.svg"/><Relationship Id="rId43" Type="http://schemas.openxmlformats.org/officeDocument/2006/relationships/image" Target="../media/image11.png"/><Relationship Id="rId42" Type="http://schemas.openxmlformats.org/officeDocument/2006/relationships/image" Target="../media/image10.svg"/><Relationship Id="rId41" Type="http://schemas.openxmlformats.org/officeDocument/2006/relationships/image" Target="../media/image9.png"/><Relationship Id="rId40" Type="http://schemas.openxmlformats.org/officeDocument/2006/relationships/tags" Target="../tags/tag73.xml"/><Relationship Id="rId4" Type="http://schemas.openxmlformats.org/officeDocument/2006/relationships/tags" Target="../tags/tag37.xml"/><Relationship Id="rId39" Type="http://schemas.openxmlformats.org/officeDocument/2006/relationships/tags" Target="../tags/tag72.xml"/><Relationship Id="rId38" Type="http://schemas.openxmlformats.org/officeDocument/2006/relationships/tags" Target="../tags/tag71.xml"/><Relationship Id="rId37" Type="http://schemas.openxmlformats.org/officeDocument/2006/relationships/tags" Target="../tags/tag70.xml"/><Relationship Id="rId36" Type="http://schemas.openxmlformats.org/officeDocument/2006/relationships/tags" Target="../tags/tag69.xml"/><Relationship Id="rId35" Type="http://schemas.openxmlformats.org/officeDocument/2006/relationships/tags" Target="../tags/tag68.xml"/><Relationship Id="rId34" Type="http://schemas.openxmlformats.org/officeDocument/2006/relationships/tags" Target="../tags/tag67.xml"/><Relationship Id="rId33" Type="http://schemas.openxmlformats.org/officeDocument/2006/relationships/tags" Target="../tags/tag66.xml"/><Relationship Id="rId32" Type="http://schemas.openxmlformats.org/officeDocument/2006/relationships/tags" Target="../tags/tag65.xml"/><Relationship Id="rId31" Type="http://schemas.openxmlformats.org/officeDocument/2006/relationships/tags" Target="../tags/tag64.xml"/><Relationship Id="rId30" Type="http://schemas.openxmlformats.org/officeDocument/2006/relationships/tags" Target="../tags/tag63.xml"/><Relationship Id="rId3" Type="http://schemas.openxmlformats.org/officeDocument/2006/relationships/tags" Target="../tags/tag36.xml"/><Relationship Id="rId29" Type="http://schemas.openxmlformats.org/officeDocument/2006/relationships/tags" Target="../tags/tag62.xml"/><Relationship Id="rId28" Type="http://schemas.openxmlformats.org/officeDocument/2006/relationships/tags" Target="../tags/tag61.xml"/><Relationship Id="rId27" Type="http://schemas.openxmlformats.org/officeDocument/2006/relationships/tags" Target="../tags/tag60.xml"/><Relationship Id="rId26" Type="http://schemas.openxmlformats.org/officeDocument/2006/relationships/tags" Target="../tags/tag59.xml"/><Relationship Id="rId25" Type="http://schemas.openxmlformats.org/officeDocument/2006/relationships/tags" Target="../tags/tag58.xml"/><Relationship Id="rId24" Type="http://schemas.openxmlformats.org/officeDocument/2006/relationships/tags" Target="../tags/tag57.xml"/><Relationship Id="rId23" Type="http://schemas.openxmlformats.org/officeDocument/2006/relationships/tags" Target="../tags/tag56.xml"/><Relationship Id="rId22" Type="http://schemas.openxmlformats.org/officeDocument/2006/relationships/tags" Target="../tags/tag55.xml"/><Relationship Id="rId21" Type="http://schemas.openxmlformats.org/officeDocument/2006/relationships/tags" Target="../tags/tag54.xml"/><Relationship Id="rId20" Type="http://schemas.openxmlformats.org/officeDocument/2006/relationships/tags" Target="../tags/tag53.xml"/><Relationship Id="rId2" Type="http://schemas.openxmlformats.org/officeDocument/2006/relationships/tags" Target="../tags/tag35.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hemeOverride" Target="../theme/themeOverride14.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2" Type="http://schemas.openxmlformats.org/officeDocument/2006/relationships/notesSlide" Target="../notesSlides/notesSlide16.xml"/><Relationship Id="rId11" Type="http://schemas.openxmlformats.org/officeDocument/2006/relationships/slideLayout" Target="../slideLayouts/slideLayout2.xml"/><Relationship Id="rId10" Type="http://schemas.openxmlformats.org/officeDocument/2006/relationships/themeOverride" Target="../theme/themeOverride16.xml"/><Relationship Id="rId1" Type="http://schemas.openxmlformats.org/officeDocument/2006/relationships/tags" Target="../tags/tag7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themeOverride" Target="../theme/themeOverride18.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alphaModFix amt="30000"/>
            <a:extLst>
              <a:ext uri="{28A0092B-C50C-407E-A947-70E740481C1C}">
                <a14:useLocalDpi xmlns:a14="http://schemas.microsoft.com/office/drawing/2010/main" val="0"/>
              </a:ext>
            </a:extLst>
          </a:blip>
          <a:stretch>
            <a:fillRect/>
          </a:stretch>
        </p:blipFill>
        <p:spPr>
          <a:xfrm>
            <a:off x="7787069" y="1651262"/>
            <a:ext cx="4130892" cy="4100064"/>
          </a:xfrm>
          <a:prstGeom prst="rect">
            <a:avLst/>
          </a:prstGeom>
        </p:spPr>
      </p:pic>
      <p:sp>
        <p:nvSpPr>
          <p:cNvPr id="22" name="矩形 21"/>
          <p:cNvSpPr/>
          <p:nvPr/>
        </p:nvSpPr>
        <p:spPr>
          <a:xfrm>
            <a:off x="3390108" y="5227502"/>
            <a:ext cx="1845310" cy="378460"/>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答辩人：林睿埼</a:t>
            </a:r>
            <a:endParaRPr kumimoji="1"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TextBox 5"/>
          <p:cNvSpPr txBox="1"/>
          <p:nvPr/>
        </p:nvSpPr>
        <p:spPr>
          <a:xfrm>
            <a:off x="5515816" y="5227502"/>
            <a:ext cx="2068830" cy="378460"/>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29</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a:t>
            </a:r>
            <a:endPar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3371850" y="4231640"/>
            <a:ext cx="4570730" cy="954405"/>
          </a:xfrm>
          <a:prstGeom prst="rect">
            <a:avLst/>
          </a:prstGeom>
        </p:spPr>
        <p:txBody>
          <a:bodyPr wrap="square" lIns="91440" tIns="45720" rIns="91440" bIns="45720">
            <a:spAutoFit/>
          </a:bodyPr>
          <a:lstStyle/>
          <a:p>
            <a:pPr marL="0" marR="0" lvl="0" indent="0" algn="ctr" defTabSz="457200" rtl="0" eaLnBrk="1" fontAlgn="auto" latinLnBrk="0" hangingPunct="1">
              <a:lnSpc>
                <a:spcPct val="150000"/>
              </a:lnSpc>
              <a:spcBef>
                <a:spcPct val="0"/>
              </a:spcBef>
              <a:spcAft>
                <a:spcPts val="0"/>
              </a:spcAft>
              <a:buClrTx/>
              <a:buSzTx/>
              <a:buFontTx/>
              <a:buNone/>
              <a:defRPr/>
            </a:pP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手写作业</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OCR</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识别与基础批改系统的实现（</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Windows</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版）</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3278655" y="2888909"/>
            <a:ext cx="7785980" cy="1116965"/>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66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mn-cs"/>
              </a:rPr>
              <a:t>开题报告</a:t>
            </a:r>
            <a:endParaRPr kumimoji="0" lang="zh-CN" altLang="en-US" sz="66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连接符 23"/>
          <p:cNvCxnSpPr/>
          <p:nvPr/>
        </p:nvCxnSpPr>
        <p:spPr>
          <a:xfrm flipH="1">
            <a:off x="3390108" y="4166691"/>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372002" y="2477576"/>
            <a:ext cx="5097441" cy="37846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65" b="1" dirty="0">
                <a:solidFill>
                  <a:prstClr val="black"/>
                </a:solidFill>
                <a:latin typeface="微软雅黑" panose="020B0503020204020204" pitchFamily="34" charset="-122"/>
                <a:ea typeface="微软雅黑" panose="020B0503020204020204" pitchFamily="34" charset="-122"/>
              </a:rPr>
              <a:t>中国科学技术大学</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级软件学院</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chemeClr val="accent2">
              <a:lumMod val="100000"/>
            </a:schemeClr>
          </a:solidFill>
          <a:ln w="5" cap="flat">
            <a:solidFill>
              <a:schemeClr val="accent2">
                <a:lumMod val="100000"/>
              </a:schemeClr>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1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chemeClr val="accent2">
              <a:lumMod val="100000"/>
            </a:schemeClr>
          </a:solidFill>
          <a:ln>
            <a:solidFill>
              <a:schemeClr val="accent2">
                <a:lumMod val="100000"/>
              </a:schemeClr>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2" name="文本框 1"/>
          <p:cNvSpPr txBox="1"/>
          <p:nvPr/>
        </p:nvSpPr>
        <p:spPr>
          <a:xfrm>
            <a:off x="8235437" y="6257204"/>
            <a:ext cx="3956563" cy="523220"/>
          </a:xfrm>
          <a:prstGeom prst="rect">
            <a:avLst/>
          </a:prstGeom>
          <a:noFill/>
        </p:spPr>
        <p:txBody>
          <a:bodyPr wrap="square">
            <a:spAutoFit/>
          </a:bodyPr>
          <a:lstStyle/>
          <a:p>
            <a:pPr algn="r"/>
            <a:r>
              <a:rPr lang="zh-CN" altLang="en-US" sz="2800" b="0" i="0" dirty="0">
                <a:effectLst/>
                <a:latin typeface="隶书" panose="02010509060101010101" pitchFamily="49" charset="-122"/>
                <a:ea typeface="隶书" panose="02010509060101010101" pitchFamily="49" charset="-122"/>
              </a:rPr>
              <a:t>红专并进 理实交融</a:t>
            </a:r>
            <a:endParaRPr lang="zh-CN" altLang="en-US" sz="2800" b="0" i="0" dirty="0">
              <a:effectLst/>
              <a:latin typeface="隶书" panose="02010509060101010101" pitchFamily="49" charset="-122"/>
              <a:ea typeface="隶书" panose="02010509060101010101" pitchFamily="49"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8655" y="1270788"/>
            <a:ext cx="4227754" cy="1197436"/>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4188" y="622441"/>
            <a:ext cx="1528413" cy="1528413"/>
            <a:chOff x="1602769" y="143838"/>
            <a:chExt cx="1331936" cy="1331936"/>
          </a:xfrm>
        </p:grpSpPr>
        <p:sp>
          <p:nvSpPr>
            <p:cNvPr id="4" name="椭圆 3"/>
            <p:cNvSpPr/>
            <p:nvPr/>
          </p:nvSpPr>
          <p:spPr>
            <a:xfrm>
              <a:off x="1602769" y="143838"/>
              <a:ext cx="1331936" cy="1331936"/>
            </a:xfrm>
            <a:prstGeom prst="ellipse">
              <a:avLst/>
            </a:prstGeom>
            <a:solidFill>
              <a:schemeClr val="accent2">
                <a:lumMod val="100000"/>
              </a:schemeClr>
            </a:solidFill>
            <a:ln w="165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146" name="TextBox 145"/>
            <p:cNvSpPr txBox="1"/>
            <p:nvPr/>
          </p:nvSpPr>
          <p:spPr>
            <a:xfrm>
              <a:off x="1679041" y="396413"/>
              <a:ext cx="1189310" cy="56324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7" name="TextBox 146"/>
            <p:cNvSpPr txBox="1"/>
            <p:nvPr/>
          </p:nvSpPr>
          <p:spPr>
            <a:xfrm>
              <a:off x="1638153" y="937949"/>
              <a:ext cx="1263808" cy="2772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46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 name="Freeform 5"/>
          <p:cNvSpPr/>
          <p:nvPr/>
        </p:nvSpPr>
        <p:spPr bwMode="auto">
          <a:xfrm>
            <a:off x="3177" y="3514337"/>
            <a:ext cx="12188825" cy="1446568"/>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22225" cap="flat">
            <a:solidFill>
              <a:schemeClr val="accent2">
                <a:lumMod val="100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44" name="矩形 30"/>
          <p:cNvSpPr>
            <a:spLocks noChangeArrowheads="1"/>
          </p:cNvSpPr>
          <p:nvPr/>
        </p:nvSpPr>
        <p:spPr bwMode="auto">
          <a:xfrm>
            <a:off x="1072692" y="5407533"/>
            <a:ext cx="958085"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绪论</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5" name="矩形 68"/>
          <p:cNvSpPr>
            <a:spLocks noChangeArrowheads="1"/>
          </p:cNvSpPr>
          <p:nvPr/>
        </p:nvSpPr>
        <p:spPr bwMode="auto">
          <a:xfrm>
            <a:off x="6950656" y="2534922"/>
            <a:ext cx="2092243"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系统总体设计</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6" name="矩形 64"/>
          <p:cNvSpPr>
            <a:spLocks noChangeArrowheads="1"/>
          </p:cNvSpPr>
          <p:nvPr/>
        </p:nvSpPr>
        <p:spPr bwMode="auto">
          <a:xfrm>
            <a:off x="2692604" y="3650742"/>
            <a:ext cx="2068801"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系统功能需求</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7" name="矩形 66"/>
          <p:cNvSpPr>
            <a:spLocks noChangeArrowheads="1"/>
          </p:cNvSpPr>
          <p:nvPr/>
        </p:nvSpPr>
        <p:spPr bwMode="auto">
          <a:xfrm>
            <a:off x="4504554" y="4873260"/>
            <a:ext cx="2700245" cy="4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关键技术与实践难点</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48" name="组合 47"/>
          <p:cNvGrpSpPr/>
          <p:nvPr/>
        </p:nvGrpSpPr>
        <p:grpSpPr>
          <a:xfrm>
            <a:off x="1088011" y="4173021"/>
            <a:ext cx="999564" cy="1001764"/>
            <a:chOff x="3437020" y="1033173"/>
            <a:chExt cx="863676" cy="865577"/>
          </a:xfrm>
        </p:grpSpPr>
        <p:sp>
          <p:nvSpPr>
            <p:cNvPr id="49" name="椭圆 18"/>
            <p:cNvSpPr>
              <a:spLocks noChangeArrowheads="1"/>
            </p:cNvSpPr>
            <p:nvPr/>
          </p:nvSpPr>
          <p:spPr bwMode="auto">
            <a:xfrm>
              <a:off x="3437020" y="1033173"/>
              <a:ext cx="863676" cy="865577"/>
            </a:xfrm>
            <a:prstGeom prst="ellipse">
              <a:avLst/>
            </a:prstGeom>
            <a:solidFill>
              <a:schemeClr val="accent2">
                <a:lumMod val="100000"/>
              </a:schemeClr>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0" name="图片 49"/>
            <p:cNvPicPr>
              <a:picLocks noChangeAspect="1"/>
            </p:cNvPicPr>
            <p:nvPr/>
          </p:nvPicPr>
          <p:blipFill>
            <a:blip r:embed="rId1" cstate="screen">
              <a:biLevel thresh="25000"/>
            </a:blip>
            <a:stretch>
              <a:fillRect/>
            </a:stretch>
          </p:blipFill>
          <p:spPr>
            <a:xfrm>
              <a:off x="3587275" y="1169757"/>
              <a:ext cx="552644" cy="566109"/>
            </a:xfrm>
            <a:prstGeom prst="rect">
              <a:avLst/>
            </a:prstGeom>
          </p:spPr>
        </p:pic>
      </p:grpSp>
      <p:sp>
        <p:nvSpPr>
          <p:cNvPr id="51" name="矩形 68"/>
          <p:cNvSpPr>
            <a:spLocks noChangeArrowheads="1"/>
          </p:cNvSpPr>
          <p:nvPr/>
        </p:nvSpPr>
        <p:spPr bwMode="auto">
          <a:xfrm>
            <a:off x="9040449" y="4638345"/>
            <a:ext cx="2651547"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实践任务计划</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52" name="组合 51"/>
          <p:cNvGrpSpPr/>
          <p:nvPr/>
        </p:nvGrpSpPr>
        <p:grpSpPr>
          <a:xfrm>
            <a:off x="3240691" y="4340316"/>
            <a:ext cx="999564" cy="1001764"/>
            <a:chOff x="3437020" y="2074814"/>
            <a:chExt cx="863676" cy="865577"/>
          </a:xfrm>
        </p:grpSpPr>
        <p:sp>
          <p:nvSpPr>
            <p:cNvPr id="53" name="椭圆 19"/>
            <p:cNvSpPr>
              <a:spLocks noChangeArrowheads="1"/>
            </p:cNvSpPr>
            <p:nvPr/>
          </p:nvSpPr>
          <p:spPr bwMode="auto">
            <a:xfrm>
              <a:off x="3437020" y="2074814"/>
              <a:ext cx="863676" cy="865577"/>
            </a:xfrm>
            <a:prstGeom prst="ellipse">
              <a:avLst/>
            </a:prstGeom>
            <a:solidFill>
              <a:schemeClr val="accent2">
                <a:lumMod val="100000"/>
              </a:schemeClr>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4" name="图片 53"/>
            <p:cNvPicPr>
              <a:picLocks noChangeAspect="1"/>
            </p:cNvPicPr>
            <p:nvPr/>
          </p:nvPicPr>
          <p:blipFill>
            <a:blip r:embed="rId2" cstate="screen">
              <a:biLevel thresh="25000"/>
            </a:blip>
            <a:stretch>
              <a:fillRect/>
            </a:stretch>
          </p:blipFill>
          <p:spPr>
            <a:xfrm>
              <a:off x="3596360" y="2243692"/>
              <a:ext cx="553608" cy="567096"/>
            </a:xfrm>
            <a:prstGeom prst="rect">
              <a:avLst/>
            </a:prstGeom>
          </p:spPr>
        </p:pic>
      </p:grpSp>
      <p:grpSp>
        <p:nvGrpSpPr>
          <p:cNvPr id="55" name="组合 54"/>
          <p:cNvGrpSpPr/>
          <p:nvPr/>
        </p:nvGrpSpPr>
        <p:grpSpPr>
          <a:xfrm>
            <a:off x="5316873" y="3634817"/>
            <a:ext cx="999564" cy="999925"/>
            <a:chOff x="3437020" y="3157655"/>
            <a:chExt cx="863676" cy="863988"/>
          </a:xfrm>
        </p:grpSpPr>
        <p:sp>
          <p:nvSpPr>
            <p:cNvPr id="56" name="椭圆 20"/>
            <p:cNvSpPr>
              <a:spLocks noChangeArrowheads="1"/>
            </p:cNvSpPr>
            <p:nvPr/>
          </p:nvSpPr>
          <p:spPr bwMode="auto">
            <a:xfrm>
              <a:off x="3437020" y="3157655"/>
              <a:ext cx="863676" cy="863988"/>
            </a:xfrm>
            <a:prstGeom prst="ellipse">
              <a:avLst/>
            </a:prstGeom>
            <a:solidFill>
              <a:schemeClr val="accent2">
                <a:lumMod val="100000"/>
              </a:schemeClr>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57" name="组合 56"/>
            <p:cNvGrpSpPr/>
            <p:nvPr/>
          </p:nvGrpSpPr>
          <p:grpSpPr>
            <a:xfrm>
              <a:off x="3603965" y="3301680"/>
              <a:ext cx="519264" cy="531742"/>
              <a:chOff x="9901114" y="2870043"/>
              <a:chExt cx="1094967" cy="1121279"/>
            </a:xfrm>
          </p:grpSpPr>
          <p:sp>
            <p:nvSpPr>
              <p:cNvPr id="58" name="Freeform 5"/>
              <p:cNvSpPr/>
              <p:nvPr/>
            </p:nvSpPr>
            <p:spPr bwMode="auto">
              <a:xfrm>
                <a:off x="10585467" y="2870043"/>
                <a:ext cx="234963" cy="800500"/>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9" name="Freeform 6"/>
              <p:cNvSpPr/>
              <p:nvPr/>
            </p:nvSpPr>
            <p:spPr bwMode="auto">
              <a:xfrm>
                <a:off x="10044830" y="3280407"/>
                <a:ext cx="289711" cy="34679"/>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0" name="Freeform 7"/>
              <p:cNvSpPr/>
              <p:nvPr/>
            </p:nvSpPr>
            <p:spPr bwMode="auto">
              <a:xfrm>
                <a:off x="10044830" y="3442241"/>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1" name="Freeform 8"/>
              <p:cNvSpPr/>
              <p:nvPr/>
            </p:nvSpPr>
            <p:spPr bwMode="auto">
              <a:xfrm>
                <a:off x="10044830" y="3601186"/>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2" name="Freeform 9"/>
              <p:cNvSpPr>
                <a:spLocks noEditPoints="1"/>
              </p:cNvSpPr>
              <p:nvPr/>
            </p:nvSpPr>
            <p:spPr bwMode="auto">
              <a:xfrm>
                <a:off x="9901114" y="2953851"/>
                <a:ext cx="1094967" cy="1037471"/>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solidFill>
                <a:schemeClr val="bg1">
                  <a:lumMod val="95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63" name="组合 62"/>
          <p:cNvGrpSpPr/>
          <p:nvPr/>
        </p:nvGrpSpPr>
        <p:grpSpPr>
          <a:xfrm>
            <a:off x="7529563" y="3147585"/>
            <a:ext cx="999564" cy="1001763"/>
            <a:chOff x="3437020" y="4201727"/>
            <a:chExt cx="863676" cy="865576"/>
          </a:xfrm>
        </p:grpSpPr>
        <p:sp>
          <p:nvSpPr>
            <p:cNvPr id="64" name="椭圆 21"/>
            <p:cNvSpPr>
              <a:spLocks noChangeArrowheads="1"/>
            </p:cNvSpPr>
            <p:nvPr/>
          </p:nvSpPr>
          <p:spPr bwMode="auto">
            <a:xfrm>
              <a:off x="3437020" y="4201727"/>
              <a:ext cx="863676" cy="865576"/>
            </a:xfrm>
            <a:prstGeom prst="ellipse">
              <a:avLst/>
            </a:prstGeom>
            <a:solidFill>
              <a:schemeClr val="accent2">
                <a:lumMod val="100000"/>
              </a:schemeClr>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65" name="Group 4"/>
            <p:cNvGrpSpPr>
              <a:grpSpLocks noChangeAspect="1"/>
            </p:cNvGrpSpPr>
            <p:nvPr/>
          </p:nvGrpSpPr>
          <p:grpSpPr bwMode="auto">
            <a:xfrm>
              <a:off x="3626902" y="4339091"/>
              <a:ext cx="476560" cy="578496"/>
              <a:chOff x="2694" y="1931"/>
              <a:chExt cx="374" cy="454"/>
            </a:xfrm>
            <a:solidFill>
              <a:schemeClr val="bg1"/>
            </a:solidFill>
          </p:grpSpPr>
          <p:sp>
            <p:nvSpPr>
              <p:cNvPr id="66"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7" name="Freeform 6"/>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8" name="Freeform 7"/>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9" name="Freeform 8"/>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0" name="Freeform 9"/>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1" name="Freeform 10"/>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2" name="Freeform 11"/>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73" name="组合 72"/>
          <p:cNvGrpSpPr/>
          <p:nvPr/>
        </p:nvGrpSpPr>
        <p:grpSpPr>
          <a:xfrm>
            <a:off x="9858482" y="3379847"/>
            <a:ext cx="999564" cy="1001763"/>
            <a:chOff x="3437020" y="5246272"/>
            <a:chExt cx="863676" cy="865576"/>
          </a:xfrm>
        </p:grpSpPr>
        <p:sp>
          <p:nvSpPr>
            <p:cNvPr id="74" name="椭圆 21"/>
            <p:cNvSpPr>
              <a:spLocks noChangeArrowheads="1"/>
            </p:cNvSpPr>
            <p:nvPr/>
          </p:nvSpPr>
          <p:spPr bwMode="auto">
            <a:xfrm>
              <a:off x="3437020" y="5246272"/>
              <a:ext cx="863676" cy="865576"/>
            </a:xfrm>
            <a:prstGeom prst="ellipse">
              <a:avLst/>
            </a:prstGeom>
            <a:solidFill>
              <a:schemeClr val="accent2">
                <a:lumMod val="100000"/>
              </a:schemeClr>
            </a:solidFill>
            <a:ln w="38100">
              <a:solidFill>
                <a:schemeClr val="bg1">
                  <a:lumMod val="75000"/>
                </a:schemeClr>
              </a:solid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5" name="Freeform 9"/>
            <p:cNvSpPr>
              <a:spLocks noEditPoints="1"/>
            </p:cNvSpPr>
            <p:nvPr/>
          </p:nvSpPr>
          <p:spPr bwMode="auto">
            <a:xfrm>
              <a:off x="3564624" y="5446833"/>
              <a:ext cx="605440" cy="464249"/>
            </a:xfrm>
            <a:custGeom>
              <a:avLst/>
              <a:gdLst>
                <a:gd name="T0" fmla="*/ 16 w 104"/>
                <a:gd name="T1" fmla="*/ 2 h 79"/>
                <a:gd name="T2" fmla="*/ 27 w 104"/>
                <a:gd name="T3" fmla="*/ 4 h 79"/>
                <a:gd name="T4" fmla="*/ 19 w 104"/>
                <a:gd name="T5" fmla="*/ 48 h 79"/>
                <a:gd name="T6" fmla="*/ 4 w 104"/>
                <a:gd name="T7" fmla="*/ 45 h 79"/>
                <a:gd name="T8" fmla="*/ 16 w 104"/>
                <a:gd name="T9" fmla="*/ 2 h 79"/>
                <a:gd name="T10" fmla="*/ 18 w 104"/>
                <a:gd name="T11" fmla="*/ 65 h 79"/>
                <a:gd name="T12" fmla="*/ 16 w 104"/>
                <a:gd name="T13" fmla="*/ 72 h 79"/>
                <a:gd name="T14" fmla="*/ 101 w 104"/>
                <a:gd name="T15" fmla="*/ 72 h 79"/>
                <a:gd name="T16" fmla="*/ 104 w 104"/>
                <a:gd name="T17" fmla="*/ 72 h 79"/>
                <a:gd name="T18" fmla="*/ 104 w 104"/>
                <a:gd name="T19" fmla="*/ 68 h 79"/>
                <a:gd name="T20" fmla="*/ 104 w 104"/>
                <a:gd name="T21" fmla="*/ 26 h 79"/>
                <a:gd name="T22" fmla="*/ 104 w 104"/>
                <a:gd name="T23" fmla="*/ 24 h 79"/>
                <a:gd name="T24" fmla="*/ 103 w 104"/>
                <a:gd name="T25" fmla="*/ 23 h 79"/>
                <a:gd name="T26" fmla="*/ 90 w 104"/>
                <a:gd name="T27" fmla="*/ 10 h 79"/>
                <a:gd name="T28" fmla="*/ 89 w 104"/>
                <a:gd name="T29" fmla="*/ 9 h 79"/>
                <a:gd name="T30" fmla="*/ 87 w 104"/>
                <a:gd name="T31" fmla="*/ 9 h 79"/>
                <a:gd name="T32" fmla="*/ 31 w 104"/>
                <a:gd name="T33" fmla="*/ 9 h 79"/>
                <a:gd name="T34" fmla="*/ 31 w 104"/>
                <a:gd name="T35" fmla="*/ 17 h 79"/>
                <a:gd name="T36" fmla="*/ 84 w 104"/>
                <a:gd name="T37" fmla="*/ 17 h 79"/>
                <a:gd name="T38" fmla="*/ 83 w 104"/>
                <a:gd name="T39" fmla="*/ 28 h 79"/>
                <a:gd name="T40" fmla="*/ 83 w 104"/>
                <a:gd name="T41" fmla="*/ 30 h 79"/>
                <a:gd name="T42" fmla="*/ 85 w 104"/>
                <a:gd name="T43" fmla="*/ 30 h 79"/>
                <a:gd name="T44" fmla="*/ 97 w 104"/>
                <a:gd name="T45" fmla="*/ 29 h 79"/>
                <a:gd name="T46" fmla="*/ 97 w 104"/>
                <a:gd name="T47" fmla="*/ 65 h 79"/>
                <a:gd name="T48" fmla="*/ 18 w 104"/>
                <a:gd name="T49" fmla="*/ 65 h 79"/>
                <a:gd name="T50" fmla="*/ 95 w 104"/>
                <a:gd name="T51" fmla="*/ 26 h 79"/>
                <a:gd name="T52" fmla="*/ 86 w 104"/>
                <a:gd name="T53" fmla="*/ 26 h 79"/>
                <a:gd name="T54" fmla="*/ 87 w 104"/>
                <a:gd name="T55" fmla="*/ 18 h 79"/>
                <a:gd name="T56" fmla="*/ 95 w 104"/>
                <a:gd name="T57" fmla="*/ 26 h 79"/>
                <a:gd name="T58" fmla="*/ 32 w 104"/>
                <a:gd name="T59" fmla="*/ 43 h 79"/>
                <a:gd name="T60" fmla="*/ 74 w 104"/>
                <a:gd name="T61" fmla="*/ 43 h 79"/>
                <a:gd name="T62" fmla="*/ 74 w 104"/>
                <a:gd name="T63" fmla="*/ 45 h 79"/>
                <a:gd name="T64" fmla="*/ 32 w 104"/>
                <a:gd name="T65" fmla="*/ 45 h 79"/>
                <a:gd name="T66" fmla="*/ 32 w 104"/>
                <a:gd name="T67" fmla="*/ 43 h 79"/>
                <a:gd name="T68" fmla="*/ 32 w 104"/>
                <a:gd name="T69" fmla="*/ 32 h 79"/>
                <a:gd name="T70" fmla="*/ 71 w 104"/>
                <a:gd name="T71" fmla="*/ 32 h 79"/>
                <a:gd name="T72" fmla="*/ 71 w 104"/>
                <a:gd name="T73" fmla="*/ 35 h 79"/>
                <a:gd name="T74" fmla="*/ 32 w 104"/>
                <a:gd name="T75" fmla="*/ 35 h 79"/>
                <a:gd name="T76" fmla="*/ 32 w 104"/>
                <a:gd name="T77" fmla="*/ 32 h 79"/>
                <a:gd name="T78" fmla="*/ 32 w 104"/>
                <a:gd name="T79" fmla="*/ 22 h 79"/>
                <a:gd name="T80" fmla="*/ 71 w 104"/>
                <a:gd name="T81" fmla="*/ 22 h 79"/>
                <a:gd name="T82" fmla="*/ 71 w 104"/>
                <a:gd name="T83" fmla="*/ 25 h 79"/>
                <a:gd name="T84" fmla="*/ 32 w 104"/>
                <a:gd name="T85" fmla="*/ 25 h 79"/>
                <a:gd name="T86" fmla="*/ 32 w 104"/>
                <a:gd name="T87" fmla="*/ 22 h 79"/>
                <a:gd name="T88" fmla="*/ 3 w 104"/>
                <a:gd name="T89" fmla="*/ 66 h 79"/>
                <a:gd name="T90" fmla="*/ 9 w 104"/>
                <a:gd name="T91" fmla="*/ 68 h 79"/>
                <a:gd name="T92" fmla="*/ 9 w 104"/>
                <a:gd name="T93" fmla="*/ 74 h 79"/>
                <a:gd name="T94" fmla="*/ 5 w 104"/>
                <a:gd name="T95" fmla="*/ 79 h 79"/>
                <a:gd name="T96" fmla="*/ 2 w 104"/>
                <a:gd name="T97" fmla="*/ 78 h 79"/>
                <a:gd name="T98" fmla="*/ 0 w 104"/>
                <a:gd name="T99" fmla="*/ 72 h 79"/>
                <a:gd name="T100" fmla="*/ 3 w 104"/>
                <a:gd name="T101" fmla="*/ 66 h 79"/>
                <a:gd name="T102" fmla="*/ 4 w 104"/>
                <a:gd name="T103" fmla="*/ 48 h 79"/>
                <a:gd name="T104" fmla="*/ 2 w 104"/>
                <a:gd name="T105" fmla="*/ 65 h 79"/>
                <a:gd name="T106" fmla="*/ 12 w 104"/>
                <a:gd name="T107" fmla="*/ 67 h 79"/>
                <a:gd name="T108" fmla="*/ 17 w 104"/>
                <a:gd name="T109" fmla="*/ 51 h 79"/>
                <a:gd name="T110" fmla="*/ 4 w 104"/>
                <a:gd name="T111" fmla="*/ 4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7133" y="3957"/>
            <a:ext cx="2819433" cy="798554"/>
          </a:xfrm>
          <a:prstGeom prst="rect">
            <a:avLst/>
          </a:prstGeom>
        </p:spPr>
      </p:pic>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5" name="梯形 34"/>
          <p:cNvSpPr/>
          <p:nvPr/>
        </p:nvSpPr>
        <p:spPr>
          <a:xfrm rot="16200000">
            <a:off x="7446198" y="-451317"/>
            <a:ext cx="2291737" cy="7199871"/>
          </a:xfrm>
          <a:prstGeom prst="trapezoid">
            <a:avLst>
              <a:gd name="adj" fmla="val 1693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1415772" cy="830997"/>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绪论</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2" name="组合 1"/>
          <p:cNvGrpSpPr/>
          <p:nvPr/>
        </p:nvGrpSpPr>
        <p:grpSpPr>
          <a:xfrm>
            <a:off x="7785008" y="2610502"/>
            <a:ext cx="2254885" cy="1535835"/>
            <a:chOff x="5838758" y="1774520"/>
            <a:chExt cx="1691164" cy="1151876"/>
          </a:xfrm>
        </p:grpSpPr>
        <p:grpSp>
          <p:nvGrpSpPr>
            <p:cNvPr id="31" name="组合 30"/>
            <p:cNvGrpSpPr/>
            <p:nvPr/>
          </p:nvGrpSpPr>
          <p:grpSpPr>
            <a:xfrm>
              <a:off x="5838758" y="1774520"/>
              <a:ext cx="1691164" cy="868216"/>
              <a:chOff x="9140243" y="2649839"/>
              <a:chExt cx="2254884" cy="1157621"/>
            </a:xfrm>
          </p:grpSpPr>
          <p:sp>
            <p:nvSpPr>
              <p:cNvPr id="32" name="矩形 31"/>
              <p:cNvSpPr/>
              <p:nvPr/>
            </p:nvSpPr>
            <p:spPr>
              <a:xfrm>
                <a:off x="9140243" y="2649839"/>
                <a:ext cx="1552027" cy="379656"/>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1-1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选题背景</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p:txBody>
          </p:sp>
          <p:sp>
            <p:nvSpPr>
              <p:cNvPr id="33" name="矩形 32"/>
              <p:cNvSpPr/>
              <p:nvPr/>
            </p:nvSpPr>
            <p:spPr>
              <a:xfrm>
                <a:off x="9140243" y="3037021"/>
                <a:ext cx="1552027" cy="37965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1-2 </a:t>
                </a:r>
                <a:r>
                  <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研究意义</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4" name="矩形 33"/>
              <p:cNvSpPr/>
              <p:nvPr/>
            </p:nvSpPr>
            <p:spPr>
              <a:xfrm>
                <a:off x="9140243" y="3429000"/>
                <a:ext cx="2254884" cy="37846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1-3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国内外研究对比</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38" name="矩形 37"/>
            <p:cNvSpPr/>
            <p:nvPr/>
          </p:nvSpPr>
          <p:spPr>
            <a:xfrm>
              <a:off x="5852715" y="2642551"/>
              <a:ext cx="232410" cy="28384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335" y="1693102"/>
            <a:ext cx="3085201" cy="3062177"/>
          </a:xfrm>
          <a:prstGeom prst="rect">
            <a:avLst/>
          </a:prstGeom>
        </p:spPr>
      </p:pic>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4417038" y="3545529"/>
            <a:ext cx="2611908" cy="2495879"/>
            <a:chOff x="3065829" y="2668267"/>
            <a:chExt cx="1872107" cy="1761728"/>
          </a:xfrm>
        </p:grpSpPr>
        <p:sp>
          <p:nvSpPr>
            <p:cNvPr id="80" name="椭圆 79"/>
            <p:cNvSpPr/>
            <p:nvPr/>
          </p:nvSpPr>
          <p:spPr>
            <a:xfrm>
              <a:off x="3115072" y="2668267"/>
              <a:ext cx="1761728" cy="1761728"/>
            </a:xfrm>
            <a:prstGeom prst="ellipse">
              <a:avLst/>
            </a:prstGeom>
            <a:no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81" name="椭圆 80"/>
            <p:cNvSpPr/>
            <p:nvPr/>
          </p:nvSpPr>
          <p:spPr>
            <a:xfrm>
              <a:off x="4442509" y="276113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2" name="椭圆 81"/>
            <p:cNvSpPr/>
            <p:nvPr/>
          </p:nvSpPr>
          <p:spPr>
            <a:xfrm>
              <a:off x="3439209" y="276113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3" name="椭圆 82"/>
            <p:cNvSpPr/>
            <p:nvPr/>
          </p:nvSpPr>
          <p:spPr>
            <a:xfrm>
              <a:off x="3065829" y="349265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4" name="椭圆 83"/>
            <p:cNvSpPr/>
            <p:nvPr/>
          </p:nvSpPr>
          <p:spPr>
            <a:xfrm>
              <a:off x="4818429" y="349265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5" name="椭圆 84"/>
            <p:cNvSpPr/>
            <p:nvPr/>
          </p:nvSpPr>
          <p:spPr>
            <a:xfrm>
              <a:off x="4442509" y="422417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86" name="椭圆 85"/>
            <p:cNvSpPr/>
            <p:nvPr/>
          </p:nvSpPr>
          <p:spPr>
            <a:xfrm>
              <a:off x="3439209" y="4201315"/>
              <a:ext cx="119507" cy="119507"/>
            </a:xfrm>
            <a:prstGeom prst="ellipse">
              <a:avLst/>
            </a:prstGeom>
            <a:solidFill>
              <a:schemeClr val="bg1">
                <a:lumMod val="95000"/>
              </a:schemeClr>
            </a:solidFill>
            <a:ln>
              <a:solidFill>
                <a:schemeClr val="accent2">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grpSp>
          <p:nvGrpSpPr>
            <p:cNvPr id="87" name="组合 86"/>
            <p:cNvGrpSpPr/>
            <p:nvPr/>
          </p:nvGrpSpPr>
          <p:grpSpPr>
            <a:xfrm>
              <a:off x="3269293" y="2943616"/>
              <a:ext cx="1465545" cy="1202499"/>
              <a:chOff x="3269293" y="2943616"/>
              <a:chExt cx="1465545" cy="1202499"/>
            </a:xfrm>
          </p:grpSpPr>
          <p:sp>
            <p:nvSpPr>
              <p:cNvPr id="88" name="任意多边形 87"/>
              <p:cNvSpPr/>
              <p:nvPr/>
            </p:nvSpPr>
            <p:spPr>
              <a:xfrm>
                <a:off x="4008329" y="2956142"/>
                <a:ext cx="425885" cy="588724"/>
              </a:xfrm>
              <a:custGeom>
                <a:avLst/>
                <a:gdLst>
                  <a:gd name="connsiteX0" fmla="*/ 0 w 425885"/>
                  <a:gd name="connsiteY0" fmla="*/ 588724 h 588724"/>
                  <a:gd name="connsiteX1" fmla="*/ 425885 w 425885"/>
                  <a:gd name="connsiteY1" fmla="*/ 0 h 588724"/>
                </a:gdLst>
                <a:ahLst/>
                <a:cxnLst>
                  <a:cxn ang="0">
                    <a:pos x="connsiteX0" y="connsiteY0"/>
                  </a:cxn>
                  <a:cxn ang="0">
                    <a:pos x="connsiteX1" y="connsiteY1"/>
                  </a:cxn>
                </a:cxnLst>
                <a:rect l="l" t="t" r="r" b="b"/>
                <a:pathLst>
                  <a:path w="425885" h="588724">
                    <a:moveTo>
                      <a:pt x="0" y="588724"/>
                    </a:moveTo>
                    <a:lnTo>
                      <a:pt x="425885" y="0"/>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9" name="任意多边形 88"/>
              <p:cNvSpPr/>
              <p:nvPr/>
            </p:nvSpPr>
            <p:spPr>
              <a:xfrm>
                <a:off x="3995803" y="3544866"/>
                <a:ext cx="739035" cy="0"/>
              </a:xfrm>
              <a:custGeom>
                <a:avLst/>
                <a:gdLst>
                  <a:gd name="connsiteX0" fmla="*/ 0 w 739035"/>
                  <a:gd name="connsiteY0" fmla="*/ 0 h 0"/>
                  <a:gd name="connsiteX1" fmla="*/ 739035 w 739035"/>
                  <a:gd name="connsiteY1" fmla="*/ 0 h 0"/>
                </a:gdLst>
                <a:ahLst/>
                <a:cxnLst>
                  <a:cxn ang="0">
                    <a:pos x="connsiteX0" y="connsiteY0"/>
                  </a:cxn>
                  <a:cxn ang="0">
                    <a:pos x="connsiteX1" y="connsiteY1"/>
                  </a:cxn>
                </a:cxnLst>
                <a:rect l="l" t="t" r="r" b="b"/>
                <a:pathLst>
                  <a:path w="739035">
                    <a:moveTo>
                      <a:pt x="0" y="0"/>
                    </a:moveTo>
                    <a:lnTo>
                      <a:pt x="739035" y="0"/>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0" name="任意多边形 89"/>
              <p:cNvSpPr/>
              <p:nvPr/>
            </p:nvSpPr>
            <p:spPr>
              <a:xfrm>
                <a:off x="3594970" y="2943616"/>
                <a:ext cx="413359" cy="588724"/>
              </a:xfrm>
              <a:custGeom>
                <a:avLst/>
                <a:gdLst>
                  <a:gd name="connsiteX0" fmla="*/ 413359 w 413359"/>
                  <a:gd name="connsiteY0" fmla="*/ 588724 h 588724"/>
                  <a:gd name="connsiteX1" fmla="*/ 0 w 413359"/>
                  <a:gd name="connsiteY1" fmla="*/ 0 h 588724"/>
                </a:gdLst>
                <a:ahLst/>
                <a:cxnLst>
                  <a:cxn ang="0">
                    <a:pos x="connsiteX0" y="connsiteY0"/>
                  </a:cxn>
                  <a:cxn ang="0">
                    <a:pos x="connsiteX1" y="connsiteY1"/>
                  </a:cxn>
                </a:cxnLst>
                <a:rect l="l" t="t" r="r" b="b"/>
                <a:pathLst>
                  <a:path w="413359" h="588724">
                    <a:moveTo>
                      <a:pt x="413359" y="588724"/>
                    </a:moveTo>
                    <a:lnTo>
                      <a:pt x="0" y="0"/>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1" name="任意多边形 90"/>
              <p:cNvSpPr/>
              <p:nvPr/>
            </p:nvSpPr>
            <p:spPr>
              <a:xfrm>
                <a:off x="3269293" y="3557392"/>
                <a:ext cx="726510" cy="0"/>
              </a:xfrm>
              <a:custGeom>
                <a:avLst/>
                <a:gdLst>
                  <a:gd name="connsiteX0" fmla="*/ 726510 w 726510"/>
                  <a:gd name="connsiteY0" fmla="*/ 0 h 0"/>
                  <a:gd name="connsiteX1" fmla="*/ 0 w 726510"/>
                  <a:gd name="connsiteY1" fmla="*/ 0 h 0"/>
                </a:gdLst>
                <a:ahLst/>
                <a:cxnLst>
                  <a:cxn ang="0">
                    <a:pos x="connsiteX0" y="connsiteY0"/>
                  </a:cxn>
                  <a:cxn ang="0">
                    <a:pos x="connsiteX1" y="connsiteY1"/>
                  </a:cxn>
                </a:cxnLst>
                <a:rect l="l" t="t" r="r" b="b"/>
                <a:pathLst>
                  <a:path w="726510">
                    <a:moveTo>
                      <a:pt x="726510" y="0"/>
                    </a:moveTo>
                    <a:lnTo>
                      <a:pt x="0" y="0"/>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2" name="任意多边形 91"/>
              <p:cNvSpPr/>
              <p:nvPr/>
            </p:nvSpPr>
            <p:spPr>
              <a:xfrm>
                <a:off x="3582444" y="3569918"/>
                <a:ext cx="425885" cy="576197"/>
              </a:xfrm>
              <a:custGeom>
                <a:avLst/>
                <a:gdLst>
                  <a:gd name="connsiteX0" fmla="*/ 425885 w 425885"/>
                  <a:gd name="connsiteY0" fmla="*/ 0 h 576197"/>
                  <a:gd name="connsiteX1" fmla="*/ 0 w 425885"/>
                  <a:gd name="connsiteY1" fmla="*/ 576197 h 576197"/>
                </a:gdLst>
                <a:ahLst/>
                <a:cxnLst>
                  <a:cxn ang="0">
                    <a:pos x="connsiteX0" y="connsiteY0"/>
                  </a:cxn>
                  <a:cxn ang="0">
                    <a:pos x="connsiteX1" y="connsiteY1"/>
                  </a:cxn>
                </a:cxnLst>
                <a:rect l="l" t="t" r="r" b="b"/>
                <a:pathLst>
                  <a:path w="425885" h="576197">
                    <a:moveTo>
                      <a:pt x="425885" y="0"/>
                    </a:moveTo>
                    <a:lnTo>
                      <a:pt x="0" y="576197"/>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3" name="任意多边形 92"/>
              <p:cNvSpPr/>
              <p:nvPr/>
            </p:nvSpPr>
            <p:spPr>
              <a:xfrm>
                <a:off x="4020855" y="3569918"/>
                <a:ext cx="388307" cy="576197"/>
              </a:xfrm>
              <a:custGeom>
                <a:avLst/>
                <a:gdLst>
                  <a:gd name="connsiteX0" fmla="*/ 0 w 388307"/>
                  <a:gd name="connsiteY0" fmla="*/ 0 h 576197"/>
                  <a:gd name="connsiteX1" fmla="*/ 388307 w 388307"/>
                  <a:gd name="connsiteY1" fmla="*/ 576197 h 576197"/>
                </a:gdLst>
                <a:ahLst/>
                <a:cxnLst>
                  <a:cxn ang="0">
                    <a:pos x="connsiteX0" y="connsiteY0"/>
                  </a:cxn>
                  <a:cxn ang="0">
                    <a:pos x="connsiteX1" y="connsiteY1"/>
                  </a:cxn>
                </a:cxnLst>
                <a:rect l="l" t="t" r="r" b="b"/>
                <a:pathLst>
                  <a:path w="388307" h="576197">
                    <a:moveTo>
                      <a:pt x="0" y="0"/>
                    </a:moveTo>
                    <a:lnTo>
                      <a:pt x="388307" y="576197"/>
                    </a:lnTo>
                  </a:path>
                </a:pathLst>
              </a:custGeom>
              <a:noFill/>
              <a:ln w="38100">
                <a:solidFill>
                  <a:schemeClr val="accent2">
                    <a:lumMod val="100000"/>
                  </a:schemeClr>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grpSp>
      <p:grpSp>
        <p:nvGrpSpPr>
          <p:cNvPr id="94" name="组合 93"/>
          <p:cNvGrpSpPr/>
          <p:nvPr/>
        </p:nvGrpSpPr>
        <p:grpSpPr>
          <a:xfrm>
            <a:off x="1103302" y="1265223"/>
            <a:ext cx="9992583" cy="1958751"/>
            <a:chOff x="2954339" y="1279908"/>
            <a:chExt cx="7162269" cy="1382596"/>
          </a:xfrm>
        </p:grpSpPr>
        <p:sp>
          <p:nvSpPr>
            <p:cNvPr id="95" name="矩形 94"/>
            <p:cNvSpPr>
              <a:spLocks noChangeArrowheads="1"/>
            </p:cNvSpPr>
            <p:nvPr/>
          </p:nvSpPr>
          <p:spPr bwMode="auto">
            <a:xfrm>
              <a:off x="2954339" y="1694800"/>
              <a:ext cx="7162269" cy="96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45720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随着信息技术的飞速发展，教育数字化已成为全球教育改革的重要趋势。</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OCR</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技术作为教育数字化进程中的关键工具，通过将纸质教材、手写作业等印刷或手写文字高效转换为可编辑的数字化文本，为教育资源的处理提供了高效解决方案，从而有力地推动了教育向智能化、高效化方向发展。</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96" name="矩形 95"/>
            <p:cNvSpPr/>
            <p:nvPr/>
          </p:nvSpPr>
          <p:spPr>
            <a:xfrm>
              <a:off x="2963100" y="1279908"/>
              <a:ext cx="1587534" cy="28148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教育数字化的需要</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97" name="组合 96"/>
          <p:cNvGrpSpPr/>
          <p:nvPr/>
        </p:nvGrpSpPr>
        <p:grpSpPr>
          <a:xfrm>
            <a:off x="5061680" y="4130367"/>
            <a:ext cx="1378164" cy="1326200"/>
            <a:chOff x="3254772" y="2872916"/>
            <a:chExt cx="987810" cy="936104"/>
          </a:xfrm>
          <a:solidFill>
            <a:srgbClr val="6B0261"/>
          </a:solidFill>
        </p:grpSpPr>
        <p:sp>
          <p:nvSpPr>
            <p:cNvPr id="98" name="椭圆 97"/>
            <p:cNvSpPr/>
            <p:nvPr/>
          </p:nvSpPr>
          <p:spPr>
            <a:xfrm>
              <a:off x="3254772" y="2872916"/>
              <a:ext cx="936104" cy="936104"/>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9" name="矩形 98"/>
            <p:cNvSpPr/>
            <p:nvPr/>
          </p:nvSpPr>
          <p:spPr>
            <a:xfrm>
              <a:off x="3329568" y="3187079"/>
              <a:ext cx="913014" cy="281481"/>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优劣对比</a:t>
              </a: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0" name="组合 99"/>
          <p:cNvGrpSpPr/>
          <p:nvPr/>
        </p:nvGrpSpPr>
        <p:grpSpPr>
          <a:xfrm>
            <a:off x="7435215" y="3845560"/>
            <a:ext cx="3270885" cy="2380510"/>
            <a:chOff x="789157" y="3505487"/>
            <a:chExt cx="1985951" cy="1431455"/>
          </a:xfrm>
        </p:grpSpPr>
        <p:sp>
          <p:nvSpPr>
            <p:cNvPr id="101" name="TextBox 100"/>
            <p:cNvSpPr txBox="1"/>
            <p:nvPr/>
          </p:nvSpPr>
          <p:spPr>
            <a:xfrm>
              <a:off x="789157" y="3505487"/>
              <a:ext cx="884340" cy="2397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OCR</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批改</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2" name="矩形 101"/>
            <p:cNvSpPr/>
            <p:nvPr/>
          </p:nvSpPr>
          <p:spPr>
            <a:xfrm>
              <a:off x="812496" y="3800586"/>
              <a:ext cx="1962612" cy="1136356"/>
            </a:xfrm>
            <a:prstGeom prst="rect">
              <a:avLst/>
            </a:prstGeom>
          </p:spPr>
          <p:txBody>
            <a:bodyPr wrap="square">
              <a:spAutoFit/>
            </a:bodyPr>
            <a:lstStyle/>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批量、快速地将手写内容数字化</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2.</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算法提供客观、标准化的评估</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3.</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节省教师时间，可以在短时间内即时反馈结果</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4.</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擅长识别对错和固定模式的答案</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103" name="组合 102"/>
          <p:cNvGrpSpPr/>
          <p:nvPr/>
        </p:nvGrpSpPr>
        <p:grpSpPr>
          <a:xfrm>
            <a:off x="1116330" y="3953510"/>
            <a:ext cx="3005455" cy="2340436"/>
            <a:chOff x="891718" y="3514973"/>
            <a:chExt cx="1962612" cy="1483230"/>
          </a:xfrm>
        </p:grpSpPr>
        <p:sp>
          <p:nvSpPr>
            <p:cNvPr id="104" name="TextBox 103"/>
            <p:cNvSpPr txBox="1"/>
            <p:nvPr/>
          </p:nvSpPr>
          <p:spPr>
            <a:xfrm>
              <a:off x="891718" y="3514973"/>
              <a:ext cx="859308" cy="25272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人工批改</a:t>
              </a:r>
              <a:endPar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5" name="矩形 104"/>
            <p:cNvSpPr/>
            <p:nvPr/>
          </p:nvSpPr>
          <p:spPr>
            <a:xfrm>
              <a:off x="891718" y="3800585"/>
              <a:ext cx="1962612" cy="1197618"/>
            </a:xfrm>
            <a:prstGeom prst="rect">
              <a:avLst/>
            </a:prstGeom>
          </p:spPr>
          <p:txBody>
            <a:bodyPr wrap="square">
              <a:spAutoFit/>
            </a:bodyPr>
            <a:lstStyle/>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教师需逐一批改，耗时极长</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2.</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评分标准易受主观因素影响</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3.</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为教师带来巨大的、重复性的体力与脑力负担</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ts val="2805"/>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4.</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能够把握学生的解题思路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sp>
        <p:nvSpPr>
          <p:cNvPr id="33" name="矩形 46"/>
          <p:cNvSpPr>
            <a:spLocks noChangeArrowheads="1"/>
          </p:cNvSpPr>
          <p:nvPr/>
        </p:nvSpPr>
        <p:spPr bwMode="auto">
          <a:xfrm>
            <a:off x="634918" y="237124"/>
            <a:ext cx="1887690"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ea typeface="微软雅黑" panose="020B0503020204020204" pitchFamily="34" charset="-122"/>
                <a:cs typeface="+mn-cs"/>
                <a:sym typeface="Calibri" panose="020F0502020204030204" pitchFamily="34" charset="0"/>
              </a:rPr>
              <a:t>选题背景</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46"/>
          <p:cNvSpPr>
            <a:spLocks noChangeArrowheads="1"/>
          </p:cNvSpPr>
          <p:nvPr/>
        </p:nvSpPr>
        <p:spPr bwMode="auto">
          <a:xfrm>
            <a:off x="634918" y="237124"/>
            <a:ext cx="1887690"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研究意义</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等腰三角形 47"/>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7" name="箭头3"/>
          <p:cNvSpPr/>
          <p:nvPr/>
        </p:nvSpPr>
        <p:spPr bwMode="gray">
          <a:xfrm flipV="1">
            <a:off x="2042467" y="3852890"/>
            <a:ext cx="1093019" cy="152070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8" name="箭头2"/>
          <p:cNvSpPr/>
          <p:nvPr/>
        </p:nvSpPr>
        <p:spPr bwMode="gray">
          <a:xfrm rot="16200000">
            <a:off x="2330482" y="3220017"/>
            <a:ext cx="324863" cy="1299204"/>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9" name="箭头1"/>
          <p:cNvSpPr/>
          <p:nvPr/>
        </p:nvSpPr>
        <p:spPr bwMode="gray">
          <a:xfrm>
            <a:off x="2035439" y="2191679"/>
            <a:ext cx="1093019" cy="176158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0" name="文本1"/>
          <p:cNvSpPr>
            <a:spLocks noChangeArrowheads="1"/>
          </p:cNvSpPr>
          <p:nvPr>
            <p:custDataLst>
              <p:tags r:id="rId1"/>
            </p:custDataLst>
          </p:nvPr>
        </p:nvSpPr>
        <p:spPr bwMode="gray">
          <a:xfrm>
            <a:off x="4504357" y="1802941"/>
            <a:ext cx="5912124" cy="1195991"/>
          </a:xfrm>
          <a:prstGeom prst="roundRect">
            <a:avLst>
              <a:gd name="adj" fmla="val 11505"/>
            </a:avLst>
          </a:prstGeom>
          <a:noFill/>
          <a:ln w="15875" cap="flat" cmpd="sng" algn="ctr">
            <a:solidFill>
              <a:schemeClr val="accent2">
                <a:lumMod val="100000"/>
              </a:schemeClr>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将教师从繁重、重复的手工作业批改中解放出来，显著提升教学效率，使其能将更多时间和精力投入到课程设计、教学研究和对学生的个性化辅导等更具创造性的工作中。</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标题1"/>
          <p:cNvSpPr>
            <a:spLocks noChangeArrowheads="1"/>
          </p:cNvSpPr>
          <p:nvPr>
            <p:custDataLst>
              <p:tags r:id="rId2"/>
            </p:custDataLst>
          </p:nvPr>
        </p:nvSpPr>
        <p:spPr bwMode="gray">
          <a:xfrm>
            <a:off x="3261751" y="1796820"/>
            <a:ext cx="1242605" cy="1202113"/>
          </a:xfrm>
          <a:prstGeom prst="roundRect">
            <a:avLst>
              <a:gd name="adj" fmla="val 11921"/>
            </a:avLst>
          </a:prstGeom>
          <a:solidFill>
            <a:schemeClr val="accent2">
              <a:lumMod val="100000"/>
            </a:schemeClr>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解放教师</a:t>
            </a:r>
            <a:endParaRPr kumimoji="0" lang="zh-CN"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2" name="文本2"/>
          <p:cNvSpPr>
            <a:spLocks noChangeArrowheads="1"/>
          </p:cNvSpPr>
          <p:nvPr>
            <p:custDataLst>
              <p:tags r:id="rId3"/>
            </p:custDataLst>
          </p:nvPr>
        </p:nvSpPr>
        <p:spPr bwMode="gray">
          <a:xfrm>
            <a:off x="4504357" y="3256318"/>
            <a:ext cx="5912124" cy="1192036"/>
          </a:xfrm>
          <a:prstGeom prst="roundRect">
            <a:avLst>
              <a:gd name="adj" fmla="val 11505"/>
            </a:avLst>
          </a:prstGeom>
          <a:noFill/>
          <a:ln w="15875" cap="flat" cmpd="sng" algn="ctr">
            <a:solidFill>
              <a:schemeClr val="accent2">
                <a:lumMod val="100000"/>
              </a:schemeClr>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为学生提供快速的作业批改结果反馈，帮助学生及时了解知识掌握情况和薄弱环节，从而有针对性地调整学习策略，实现个性化精准学习，有效提升学习效率与成绩。</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3" name="标题2"/>
          <p:cNvSpPr>
            <a:spLocks noChangeArrowheads="1"/>
          </p:cNvSpPr>
          <p:nvPr>
            <p:custDataLst>
              <p:tags r:id="rId4"/>
            </p:custDataLst>
          </p:nvPr>
        </p:nvSpPr>
        <p:spPr bwMode="gray">
          <a:xfrm>
            <a:off x="3261751" y="3256318"/>
            <a:ext cx="1242607" cy="1192036"/>
          </a:xfrm>
          <a:prstGeom prst="roundRect">
            <a:avLst>
              <a:gd name="adj" fmla="val 11921"/>
            </a:avLst>
          </a:prstGeom>
          <a:solidFill>
            <a:schemeClr val="accent2">
              <a:lumMod val="100000"/>
            </a:schemeClr>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提升学生</a:t>
            </a:r>
            <a:endParaRPr kumimoji="0" lang="zh-CN"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4" name="文本3"/>
          <p:cNvSpPr>
            <a:spLocks noChangeArrowheads="1"/>
          </p:cNvSpPr>
          <p:nvPr>
            <p:custDataLst>
              <p:tags r:id="rId5"/>
            </p:custDataLst>
          </p:nvPr>
        </p:nvSpPr>
        <p:spPr bwMode="ltGray">
          <a:xfrm>
            <a:off x="4504357" y="4697390"/>
            <a:ext cx="5912124" cy="1181401"/>
          </a:xfrm>
          <a:prstGeom prst="roundRect">
            <a:avLst>
              <a:gd name="adj" fmla="val 11505"/>
            </a:avLst>
          </a:prstGeom>
          <a:noFill/>
          <a:ln w="15875" cap="flat" cmpd="sng" algn="ctr">
            <a:solidFill>
              <a:schemeClr val="accent2">
                <a:lumMod val="100000"/>
              </a:schemeClr>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base" latinLnBrk="0" hangingPunct="1">
              <a:lnSpc>
                <a:spcPct val="12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缩小因地域、师资差异导致的教育质量差距，让更多学生能享受到标准化的教学评价资源，从而促进教育公平与教育资源的均衡分配。</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标题3"/>
          <p:cNvSpPr>
            <a:spLocks noChangeArrowheads="1"/>
          </p:cNvSpPr>
          <p:nvPr>
            <p:custDataLst>
              <p:tags r:id="rId6"/>
            </p:custDataLst>
          </p:nvPr>
        </p:nvSpPr>
        <p:spPr bwMode="gray">
          <a:xfrm>
            <a:off x="3261751" y="4697390"/>
            <a:ext cx="1242605" cy="1181401"/>
          </a:xfrm>
          <a:prstGeom prst="roundRect">
            <a:avLst>
              <a:gd name="adj" fmla="val 11921"/>
            </a:avLst>
          </a:prstGeom>
          <a:solidFill>
            <a:schemeClr val="accent2">
              <a:lumMod val="100000"/>
            </a:schemeClr>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200" rtl="0" eaLnBrk="1" fontAlgn="base" latinLnBrk="0" hangingPunct="1">
              <a:lnSpc>
                <a:spcPct val="120000"/>
              </a:lnSpc>
              <a:spcBef>
                <a:spcPct val="0"/>
              </a:spcBef>
              <a:spcAft>
                <a:spcPct val="0"/>
              </a:spcAft>
              <a:buClrTx/>
              <a:buSzTx/>
              <a:buFontTx/>
              <a:buNone/>
              <a:defRPr/>
            </a:pPr>
            <a:r>
              <a:rPr kumimoji="0" lang="zh-CN" altLang="en-US"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促进发展</a:t>
            </a:r>
            <a:endParaRPr kumimoji="0" lang="zh-CN" altLang="zh-CN" sz="1865" b="1" i="0" u="none" strike="noStrike" kern="120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endParaRPr>
          </a:p>
        </p:txBody>
      </p:sp>
      <p:sp>
        <p:nvSpPr>
          <p:cNvPr id="26" name="Oval 19"/>
          <p:cNvSpPr>
            <a:spLocks noChangeArrowheads="1"/>
          </p:cNvSpPr>
          <p:nvPr/>
        </p:nvSpPr>
        <p:spPr bwMode="auto">
          <a:xfrm>
            <a:off x="1482571" y="3256318"/>
            <a:ext cx="1190548" cy="1192036"/>
          </a:xfrm>
          <a:prstGeom prst="ellipse">
            <a:avLst/>
          </a:prstGeom>
          <a:solidFill>
            <a:schemeClr val="accent2">
              <a:lumMod val="100000"/>
            </a:schemeClr>
          </a:solidFill>
          <a:ln w="9525">
            <a:noFill/>
            <a:round/>
          </a:ln>
          <a:effectLst/>
        </p:spPr>
        <p:txBody>
          <a:bodyPr lIns="82824" tIns="41411" rIns="82824" bIns="41411" anchor="ct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rPr>
              <a:t>研究意义</a:t>
            </a:r>
            <a:endParaRPr kumimoji="0" lang="zh-CN" altLang="en-US" sz="2535"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6"/>
          <p:cNvSpPr>
            <a:spLocks noChangeArrowheads="1"/>
          </p:cNvSpPr>
          <p:nvPr/>
        </p:nvSpPr>
        <p:spPr bwMode="auto">
          <a:xfrm>
            <a:off x="634918" y="237124"/>
            <a:ext cx="3939534"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国内外相关研究综述</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6" name="等腰三角形 47"/>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 name="组合 12"/>
          <p:cNvGrpSpPr/>
          <p:nvPr>
            <p:custDataLst>
              <p:tags r:id="rId1"/>
            </p:custDataLst>
          </p:nvPr>
        </p:nvGrpSpPr>
        <p:grpSpPr>
          <a:xfrm>
            <a:off x="2915218" y="1785930"/>
            <a:ext cx="7685313" cy="465118"/>
            <a:chOff x="3002037" y="1465798"/>
            <a:chExt cx="7067433" cy="369332"/>
          </a:xfrm>
          <a:solidFill>
            <a:schemeClr val="accent2">
              <a:lumMod val="75000"/>
            </a:schemeClr>
          </a:solidFill>
        </p:grpSpPr>
        <p:sp>
          <p:nvSpPr>
            <p:cNvPr id="14" name="矩形 13"/>
            <p:cNvSpPr/>
            <p:nvPr>
              <p:custDataLst>
                <p:tags r:id="rId2"/>
              </p:custDataLst>
            </p:nvPr>
          </p:nvSpPr>
          <p:spPr bwMode="auto">
            <a:xfrm>
              <a:off x="3002037" y="1465798"/>
              <a:ext cx="7067433" cy="369332"/>
            </a:xfrm>
            <a:prstGeom prst="rect">
              <a:avLst/>
            </a:prstGeom>
            <a:solidFill>
              <a:schemeClr val="accent2">
                <a:lumMod val="10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custDataLst>
                <p:tags r:id="rId3"/>
              </p:custDataLst>
            </p:nvPr>
          </p:nvSpPr>
          <p:spPr>
            <a:xfrm>
              <a:off x="3033223" y="1474123"/>
              <a:ext cx="5688633"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用户端侧轻量化、快速响应与生态融合</a:t>
              </a:r>
              <a:endPar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grpSp>
        <p:nvGrpSpPr>
          <p:cNvPr id="18" name="组合 17"/>
          <p:cNvGrpSpPr/>
          <p:nvPr>
            <p:custDataLst>
              <p:tags r:id="rId4"/>
            </p:custDataLst>
          </p:nvPr>
        </p:nvGrpSpPr>
        <p:grpSpPr>
          <a:xfrm>
            <a:off x="2915218" y="4050356"/>
            <a:ext cx="7685313" cy="465119"/>
            <a:chOff x="3002037" y="3922395"/>
            <a:chExt cx="7067433" cy="369332"/>
          </a:xfrm>
          <a:solidFill>
            <a:schemeClr val="accent2">
              <a:lumMod val="75000"/>
            </a:schemeClr>
          </a:solidFill>
        </p:grpSpPr>
        <p:sp>
          <p:nvSpPr>
            <p:cNvPr id="19" name="矩形 18"/>
            <p:cNvSpPr/>
            <p:nvPr>
              <p:custDataLst>
                <p:tags r:id="rId5"/>
              </p:custDataLst>
            </p:nvPr>
          </p:nvSpPr>
          <p:spPr bwMode="auto">
            <a:xfrm>
              <a:off x="3002037" y="3922395"/>
              <a:ext cx="7067433" cy="369332"/>
            </a:xfrm>
            <a:prstGeom prst="rect">
              <a:avLst/>
            </a:prstGeom>
            <a:solidFill>
              <a:schemeClr val="accent2">
                <a:lumMod val="10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213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Box 19"/>
            <p:cNvSpPr txBox="1"/>
            <p:nvPr>
              <p:custDataLst>
                <p:tags r:id="rId6"/>
              </p:custDataLst>
            </p:nvPr>
          </p:nvSpPr>
          <p:spPr>
            <a:xfrm>
              <a:off x="3023643" y="3939539"/>
              <a:ext cx="5448231" cy="3337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rPr>
                <a:t>多语言支持、通用平台能力与前沿模型探索</a:t>
              </a:r>
              <a:endParaRPr kumimoji="0" lang="zh-CN" altLang="en-US" sz="2135" b="0" i="0" u="none" strike="noStrike" kern="1200" cap="none" spc="0" normalizeH="0" baseline="0" noProof="0" dirty="0">
                <a:ln>
                  <a:noFill/>
                </a:ln>
                <a:solidFill>
                  <a:srgbClr val="F8F8F8"/>
                </a:solidFill>
                <a:effectLst/>
                <a:uLnTx/>
                <a:uFillTx/>
                <a:latin typeface="微软雅黑" panose="020B0503020204020204" pitchFamily="34" charset="-122"/>
                <a:ea typeface="微软雅黑" panose="020B0503020204020204" pitchFamily="34" charset="-122"/>
                <a:cs typeface="+mn-cs"/>
              </a:endParaRPr>
            </a:p>
          </p:txBody>
        </p:sp>
      </p:grpSp>
      <p:sp>
        <p:nvSpPr>
          <p:cNvPr id="21" name="TextBox 20"/>
          <p:cNvSpPr txBox="1"/>
          <p:nvPr>
            <p:custDataLst>
              <p:tags r:id="rId7"/>
            </p:custDataLst>
          </p:nvPr>
        </p:nvSpPr>
        <p:spPr>
          <a:xfrm>
            <a:off x="2915219" y="2315870"/>
            <a:ext cx="7685312" cy="1691005"/>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鸿蒙作业批改</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系统：端侧轻量化推理</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夸克</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APP</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作业批改模块：题库</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规则引擎批改</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腾讯教育智服作业批改系统：轻量</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OCR+</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大数据分析</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国内系统更注重在特定市场（中文与英语作业批改）和特定生态内，通过深度优化和集成，提供</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开箱即用</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高效便捷</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的垂直解决方案。</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TextBox 21"/>
          <p:cNvSpPr txBox="1"/>
          <p:nvPr>
            <p:custDataLst>
              <p:tags r:id="rId8"/>
            </p:custDataLst>
          </p:nvPr>
        </p:nvSpPr>
        <p:spPr>
          <a:xfrm>
            <a:off x="2915219" y="4723058"/>
            <a:ext cx="7685312" cy="1370965"/>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Manus AI</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多语言手写作业识别与批改系统：</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3D-CNN + LSTM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实现动态笔迹识别</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Microsoft OneNote</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手写识别与辅助系统：</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Transformer</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识别</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多模态内容融合</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国外系统则更侧重于底层</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核心技术</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的突破（如动态笔迹、多语言架构、</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Transformer</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模型），以支持</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更广泛的语言</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和更通用的平台化应用。</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等腰三角形 2"/>
          <p:cNvSpPr/>
          <p:nvPr>
            <p:custDataLst>
              <p:tags r:id="rId9"/>
            </p:custDataLst>
          </p:nvPr>
        </p:nvSpPr>
        <p:spPr bwMode="auto">
          <a:xfrm rot="2747878">
            <a:off x="1396483" y="1729450"/>
            <a:ext cx="1323028" cy="1530812"/>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chemeClr val="accent2">
              <a:lumMod val="100000"/>
            </a:schemeClr>
          </a:solidFill>
          <a:ln>
            <a:noFill/>
          </a:ln>
        </p:spPr>
        <p:txBody>
          <a:bodyPr wrap="none" lIns="91440" tIns="45720" rIns="91440" bIns="4572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465"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4" name="TextBox 23"/>
          <p:cNvSpPr txBox="1"/>
          <p:nvPr>
            <p:custDataLst>
              <p:tags r:id="rId10"/>
            </p:custDataLst>
          </p:nvPr>
        </p:nvSpPr>
        <p:spPr>
          <a:xfrm>
            <a:off x="1551062" y="2317796"/>
            <a:ext cx="858447" cy="492344"/>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国内</a:t>
            </a:r>
            <a:endParaRPr kumimoji="0" lang="en-US" altLang="zh-CN"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现状</a:t>
            </a:r>
            <a:endPar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5" name="等腰三角形 2"/>
          <p:cNvSpPr/>
          <p:nvPr>
            <p:custDataLst>
              <p:tags r:id="rId11"/>
            </p:custDataLst>
          </p:nvPr>
        </p:nvSpPr>
        <p:spPr bwMode="auto">
          <a:xfrm rot="3036074">
            <a:off x="1396482" y="4055973"/>
            <a:ext cx="1323031" cy="1530816"/>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chemeClr val="accent2"/>
          </a:solidFill>
          <a:ln>
            <a:noFill/>
          </a:ln>
        </p:spPr>
        <p:txBody>
          <a:bodyPr wrap="none" lIns="91440" tIns="45720" rIns="91440" bIns="4572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465"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6" name="TextBox 25"/>
          <p:cNvSpPr txBox="1"/>
          <p:nvPr>
            <p:custDataLst>
              <p:tags r:id="rId12"/>
            </p:custDataLst>
          </p:nvPr>
        </p:nvSpPr>
        <p:spPr>
          <a:xfrm>
            <a:off x="1561666" y="4636055"/>
            <a:ext cx="858447" cy="492344"/>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国外</a:t>
            </a:r>
            <a:endParaRPr kumimoji="0" lang="en-US" altLang="zh-CN"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现状</a:t>
            </a:r>
            <a:endParaRPr kumimoji="0" lang="zh-CN" altLang="en-US" sz="2665"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38404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系统功能需求</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335" y="1693102"/>
            <a:ext cx="3085201" cy="3062177"/>
          </a:xfrm>
          <a:prstGeom prst="rect">
            <a:avLst/>
          </a:prstGeom>
        </p:spPr>
      </p:pic>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6"/>
          <p:cNvSpPr>
            <a:spLocks noChangeArrowheads="1"/>
          </p:cNvSpPr>
          <p:nvPr/>
        </p:nvSpPr>
        <p:spPr bwMode="auto">
          <a:xfrm>
            <a:off x="634918" y="237124"/>
            <a:ext cx="26809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系统功能需求</a:t>
            </a:r>
            <a:endPar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47" name="等腰三角形 47"/>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p:cNvPicPr/>
          <p:nvPr/>
        </p:nvPicPr>
        <p:blipFill>
          <a:blip r:embed="rId1"/>
          <a:stretch>
            <a:fillRect/>
          </a:stretch>
        </p:blipFill>
        <p:spPr>
          <a:xfrm>
            <a:off x="286385" y="852805"/>
            <a:ext cx="7279005" cy="5492750"/>
          </a:xfrm>
          <a:prstGeom prst="rect">
            <a:avLst/>
          </a:prstGeom>
        </p:spPr>
      </p:pic>
      <p:grpSp>
        <p:nvGrpSpPr>
          <p:cNvPr id="85" name="组合 84"/>
          <p:cNvGrpSpPr/>
          <p:nvPr>
            <p:custDataLst>
              <p:tags r:id="rId2"/>
            </p:custDataLst>
          </p:nvPr>
        </p:nvGrpSpPr>
        <p:grpSpPr>
          <a:xfrm>
            <a:off x="7991475" y="1026160"/>
            <a:ext cx="3816985" cy="4770121"/>
            <a:chOff x="347759" y="1526097"/>
            <a:chExt cx="3589223" cy="1845156"/>
          </a:xfrm>
        </p:grpSpPr>
        <p:sp>
          <p:nvSpPr>
            <p:cNvPr id="86" name="文本框 105"/>
            <p:cNvSpPr txBox="1"/>
            <p:nvPr>
              <p:custDataLst>
                <p:tags r:id="rId3"/>
              </p:custDataLst>
            </p:nvPr>
          </p:nvSpPr>
          <p:spPr>
            <a:xfrm>
              <a:off x="390155" y="1526097"/>
              <a:ext cx="2680422" cy="146394"/>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sz="1865"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功能要点</a:t>
              </a:r>
              <a:endParaRPr kumimoji="0" lang="zh-CN" sz="1865" b="1"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87" name="文本框 106"/>
            <p:cNvSpPr txBox="1"/>
            <p:nvPr>
              <p:custDataLst>
                <p:tags r:id="rId4"/>
              </p:custDataLst>
            </p:nvPr>
          </p:nvSpPr>
          <p:spPr>
            <a:xfrm>
              <a:off x="347759" y="1727021"/>
              <a:ext cx="3589223" cy="1644232"/>
            </a:xfrm>
            <a:prstGeom prst="rect">
              <a:avLst/>
            </a:prstGeom>
            <a:noFill/>
          </p:spPr>
          <p:txBody>
            <a:bodyPr wrap="square" rtlCol="0">
              <a:spAutoFit/>
            </a:bodyPr>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用户注册与登录</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2.</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图像上传与预览</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图像预处理（灰度化、二值化、去噪）</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4.OCR</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识别（中文、英文、数字、符号）</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5.</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答案匹配（精确</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模糊匹配）</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6.</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得分计算与结果展示</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7.</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结果导出与历史记录</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7" y="2692405"/>
            <a:ext cx="3877985" cy="830997"/>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关键技术难点</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2" name="组合 1"/>
          <p:cNvGrpSpPr/>
          <p:nvPr/>
        </p:nvGrpSpPr>
        <p:grpSpPr>
          <a:xfrm>
            <a:off x="9692917" y="2366027"/>
            <a:ext cx="1570637" cy="1537031"/>
            <a:chOff x="5838758" y="1774520"/>
            <a:chExt cx="1177978" cy="1152773"/>
          </a:xfrm>
        </p:grpSpPr>
        <p:grpSp>
          <p:nvGrpSpPr>
            <p:cNvPr id="31" name="组合 30"/>
            <p:cNvGrpSpPr/>
            <p:nvPr/>
          </p:nvGrpSpPr>
          <p:grpSpPr>
            <a:xfrm>
              <a:off x="5838758" y="1774520"/>
              <a:ext cx="1164021" cy="869113"/>
              <a:chOff x="9140243" y="2649839"/>
              <a:chExt cx="1552027" cy="1158817"/>
            </a:xfrm>
          </p:grpSpPr>
          <p:sp>
            <p:nvSpPr>
              <p:cNvPr id="32" name="矩形 31"/>
              <p:cNvSpPr/>
              <p:nvPr/>
            </p:nvSpPr>
            <p:spPr>
              <a:xfrm>
                <a:off x="9140243" y="2649839"/>
                <a:ext cx="1552027" cy="379656"/>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3-1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关键技术</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p:txBody>
          </p:sp>
          <p:sp>
            <p:nvSpPr>
              <p:cNvPr id="33" name="矩形 32"/>
              <p:cNvSpPr/>
              <p:nvPr/>
            </p:nvSpPr>
            <p:spPr>
              <a:xfrm>
                <a:off x="9140243" y="3037021"/>
                <a:ext cx="1552027" cy="37965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3-2 </a:t>
                </a:r>
                <a:r>
                  <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实践难点</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4" name="矩形 33"/>
              <p:cNvSpPr/>
              <p:nvPr/>
            </p:nvSpPr>
            <p:spPr>
              <a:xfrm>
                <a:off x="9140243" y="3429000"/>
                <a:ext cx="1552027" cy="37965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3-3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市场调研</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sp>
          <p:nvSpPr>
            <p:cNvPr id="38" name="矩形 37"/>
            <p:cNvSpPr/>
            <p:nvPr/>
          </p:nvSpPr>
          <p:spPr>
            <a:xfrm>
              <a:off x="5852715" y="2642551"/>
              <a:ext cx="1164021" cy="28474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3-4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案例分析</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335" y="1693102"/>
            <a:ext cx="3085201" cy="3062177"/>
          </a:xfrm>
          <a:prstGeom prst="rect">
            <a:avLst/>
          </a:prstGeom>
        </p:spPr>
      </p:pic>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5"/>
          <p:cNvSpPr txBox="1"/>
          <p:nvPr/>
        </p:nvSpPr>
        <p:spPr>
          <a:xfrm>
            <a:off x="3707130" y="1044575"/>
            <a:ext cx="6201410" cy="1630045"/>
          </a:xfrm>
          <a:prstGeom prst="rect">
            <a:avLst/>
          </a:prstGeom>
          <a:noFill/>
        </p:spPr>
        <p:txBody>
          <a:bodyPr wrap="square" lIns="91440" tIns="45720" rIns="91440" bIns="45720" rtlCol="0">
            <a:spAutoFit/>
          </a:bodyPr>
          <a:lstStyle/>
          <a:p>
            <a:pPr marL="0" marR="0" lvl="0" indent="457200" algn="l" defTabSz="4572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该技术需要应对书写风格的多样性，包括字体的形状、笔画的粗细、连笔习惯等，以及外部因素如书写工具、纸张材质和图像采集条件的影响。例如，使用圆珠笔、钢笔或铅笔书写的字迹在清晰度和对比度上存在差异，而光照不均或拍摄角度不正可能导致图像变形或模糊。还需处理非常规书写或公式。</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18"/>
          <p:cNvSpPr txBox="1"/>
          <p:nvPr/>
        </p:nvSpPr>
        <p:spPr>
          <a:xfrm>
            <a:off x="1627505" y="4302125"/>
            <a:ext cx="6923405" cy="1322070"/>
          </a:xfrm>
          <a:prstGeom prst="rect">
            <a:avLst/>
          </a:prstGeom>
          <a:noFill/>
        </p:spPr>
        <p:txBody>
          <a:bodyPr wrap="square" lIns="91440" tIns="45720" rIns="91440" bIns="45720" rtlCol="0">
            <a:spAutoFit/>
          </a:bodyPr>
          <a:lstStyle/>
          <a:p>
            <a:pPr marL="0" marR="0" lvl="0" indent="45720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专注于</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处理填空题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选择题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和</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简单计算题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等多种题型的</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智能评估</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与得分计算。该技术不仅需要准确识别手写答案内容，还需深入理解题型逻辑和规则，以应对答案的多样性和灵活性。例如，对于选择题，可以直接匹配。对于填空题，需要模式匹配算法来判断多种合理表述是否正确。而对于主观题，则需要自然语言处理技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a:xfrm rot="20926619">
            <a:off x="1950635" y="3031978"/>
            <a:ext cx="8243888" cy="391887"/>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9" name="组合 8"/>
          <p:cNvGrpSpPr/>
          <p:nvPr/>
        </p:nvGrpSpPr>
        <p:grpSpPr>
          <a:xfrm>
            <a:off x="1930264" y="1043791"/>
            <a:ext cx="1640205" cy="1879600"/>
            <a:chOff x="411429" y="1954958"/>
            <a:chExt cx="1640204" cy="1879599"/>
          </a:xfrm>
        </p:grpSpPr>
        <p:sp>
          <p:nvSpPr>
            <p:cNvPr id="10" name="下箭头 9"/>
            <p:cNvSpPr/>
            <p:nvPr/>
          </p:nvSpPr>
          <p:spPr>
            <a:xfrm>
              <a:off x="411429" y="1955593"/>
              <a:ext cx="1640204" cy="1878964"/>
            </a:xfrm>
            <a:prstGeom prst="downArrow">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1" name="文本框 4"/>
            <p:cNvSpPr txBox="1"/>
            <p:nvPr/>
          </p:nvSpPr>
          <p:spPr>
            <a:xfrm>
              <a:off x="987374" y="1954958"/>
              <a:ext cx="490220" cy="1692274"/>
            </a:xfrm>
            <a:prstGeom prst="rect">
              <a:avLst/>
            </a:prstGeom>
            <a:noFill/>
          </p:spPr>
          <p:txBody>
            <a:bodyPr vert="eaVert"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手写文字识别</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2" name="组合 11"/>
          <p:cNvGrpSpPr/>
          <p:nvPr/>
        </p:nvGrpSpPr>
        <p:grpSpPr>
          <a:xfrm>
            <a:off x="8575040" y="3580765"/>
            <a:ext cx="1640205" cy="1857375"/>
            <a:chOff x="7055945" y="4194060"/>
            <a:chExt cx="1640114" cy="1455648"/>
          </a:xfrm>
        </p:grpSpPr>
        <p:sp>
          <p:nvSpPr>
            <p:cNvPr id="13" name="下箭头 12"/>
            <p:cNvSpPr/>
            <p:nvPr/>
          </p:nvSpPr>
          <p:spPr>
            <a:xfrm flipV="1">
              <a:off x="7055945" y="4194060"/>
              <a:ext cx="1640114" cy="1455648"/>
            </a:xfrm>
            <a:prstGeom prst="downArrow">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4" name="文本框 22"/>
            <p:cNvSpPr txBox="1"/>
            <p:nvPr/>
          </p:nvSpPr>
          <p:spPr>
            <a:xfrm>
              <a:off x="7631858" y="4330622"/>
              <a:ext cx="490193" cy="1295820"/>
            </a:xfrm>
            <a:prstGeom prst="rect">
              <a:avLst/>
            </a:prstGeom>
            <a:noFill/>
          </p:spPr>
          <p:txBody>
            <a:bodyPr vert="eaVert"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复杂题型批改</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5" name="等腰三角形 14"/>
          <p:cNvSpPr/>
          <p:nvPr/>
        </p:nvSpPr>
        <p:spPr>
          <a:xfrm>
            <a:off x="5655405" y="3409513"/>
            <a:ext cx="870859" cy="750740"/>
          </a:xfrm>
          <a:prstGeom prst="triangl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7" name="文本框 19"/>
          <p:cNvSpPr txBox="1"/>
          <p:nvPr/>
        </p:nvSpPr>
        <p:spPr>
          <a:xfrm>
            <a:off x="1065121" y="5562661"/>
            <a:ext cx="10048352" cy="706755"/>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手写文字识别技术和复杂题型自动批改技术是本项目实现自动批改功能的两大支柱。前者确保了从复杂图像中准确提取文字信息，后者则通过智能逻辑处理多种题型，共同提升了系统的整体准确性和实用性。</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a:spLocks noChangeArrowheads="1"/>
          </p:cNvSpPr>
          <p:nvPr/>
        </p:nvSpPr>
        <p:spPr bwMode="auto">
          <a:xfrm>
            <a:off x="634918" y="237124"/>
            <a:ext cx="1887690"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关键技术</a:t>
            </a:r>
            <a:endPar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9" name="等腰三角形 18"/>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2637794" y="1587735"/>
            <a:ext cx="1004399" cy="1004399"/>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椭圆 6"/>
          <p:cNvSpPr/>
          <p:nvPr>
            <p:custDataLst>
              <p:tags r:id="rId2"/>
            </p:custDataLst>
          </p:nvPr>
        </p:nvSpPr>
        <p:spPr>
          <a:xfrm>
            <a:off x="3642194" y="3356749"/>
            <a:ext cx="1004399" cy="1004399"/>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B</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椭圆 7"/>
          <p:cNvSpPr/>
          <p:nvPr>
            <p:custDataLst>
              <p:tags r:id="rId3"/>
            </p:custDataLst>
          </p:nvPr>
        </p:nvSpPr>
        <p:spPr>
          <a:xfrm>
            <a:off x="2637794" y="4977345"/>
            <a:ext cx="1004399" cy="1004399"/>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t>
            </a:r>
            <a:endParaRPr kumimoji="0" lang="zh-HK"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8"/>
          <p:cNvCxnSpPr/>
          <p:nvPr/>
        </p:nvCxnSpPr>
        <p:spPr>
          <a:xfrm flipV="1">
            <a:off x="1598053" y="2456194"/>
            <a:ext cx="888520" cy="527559"/>
          </a:xfrm>
          <a:prstGeom prst="line">
            <a:avLst/>
          </a:prstGeom>
          <a:ln w="28575">
            <a:solidFill>
              <a:schemeClr val="accent2">
                <a:lumMod val="10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818691" y="3858947"/>
            <a:ext cx="1596560" cy="0"/>
          </a:xfrm>
          <a:prstGeom prst="line">
            <a:avLst/>
          </a:prstGeom>
          <a:ln w="28575">
            <a:solidFill>
              <a:schemeClr val="accent2">
                <a:lumMod val="10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62019" y="4723543"/>
            <a:ext cx="960589" cy="507148"/>
          </a:xfrm>
          <a:prstGeom prst="line">
            <a:avLst/>
          </a:prstGeom>
          <a:ln w="28575">
            <a:solidFill>
              <a:schemeClr val="accent2">
                <a:lumMod val="100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custDataLst>
              <p:tags r:id="rId4"/>
            </p:custDataLst>
          </p:nvPr>
        </p:nvGrpSpPr>
        <p:grpSpPr>
          <a:xfrm>
            <a:off x="4012557" y="1442319"/>
            <a:ext cx="6088665" cy="1405556"/>
            <a:chOff x="4012556" y="1375083"/>
            <a:chExt cx="5516462" cy="1405557"/>
          </a:xfrm>
        </p:grpSpPr>
        <p:sp>
          <p:nvSpPr>
            <p:cNvPr id="12" name="矩形 11"/>
            <p:cNvSpPr/>
            <p:nvPr>
              <p:custDataLst>
                <p:tags r:id="rId5"/>
              </p:custDataLst>
            </p:nvPr>
          </p:nvSpPr>
          <p:spPr>
            <a:xfrm>
              <a:off x="4012556" y="1729714"/>
              <a:ext cx="5516462" cy="1050926"/>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手写文字的个体差异极大，书写风格、笔迹清晰度受工具、力度和纸张影响，加上图像采集时光照、角度等因素干扰，导致识别模型易受噪声影响，需持续优化预处理和模型泛化能力以保持高准确性。</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3" name="文本框 42"/>
            <p:cNvSpPr txBox="1"/>
            <p:nvPr>
              <p:custDataLst>
                <p:tags r:id="rId6"/>
              </p:custDataLst>
            </p:nvPr>
          </p:nvSpPr>
          <p:spPr>
            <a:xfrm>
              <a:off x="4012556" y="1375083"/>
              <a:ext cx="4294792"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手写文字的多样性与图像质量不稳定</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5" name="组合 4"/>
          <p:cNvGrpSpPr/>
          <p:nvPr>
            <p:custDataLst>
              <p:tags r:id="rId7"/>
            </p:custDataLst>
          </p:nvPr>
        </p:nvGrpSpPr>
        <p:grpSpPr>
          <a:xfrm>
            <a:off x="4873534" y="3199999"/>
            <a:ext cx="6088665" cy="1405554"/>
            <a:chOff x="4873534" y="3109566"/>
            <a:chExt cx="5516462" cy="1405553"/>
          </a:xfrm>
        </p:grpSpPr>
        <p:sp>
          <p:nvSpPr>
            <p:cNvPr id="14" name="矩形 13"/>
            <p:cNvSpPr/>
            <p:nvPr>
              <p:custDataLst>
                <p:tags r:id="rId8"/>
              </p:custDataLst>
            </p:nvPr>
          </p:nvSpPr>
          <p:spPr>
            <a:xfrm>
              <a:off x="4873534" y="3464195"/>
              <a:ext cx="5516462" cy="1050924"/>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不同题型要求系统具备高度的逻辑推理和适应性，例如处理开放性问题中的多种答案表述或计算题中的非常规解法，这需要深度融合领域知识和机器学习，增加了算法设计和维护的复杂度。</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文本框 44"/>
            <p:cNvSpPr txBox="1"/>
            <p:nvPr>
              <p:custDataLst>
                <p:tags r:id="rId9"/>
              </p:custDataLst>
            </p:nvPr>
          </p:nvSpPr>
          <p:spPr>
            <a:xfrm>
              <a:off x="4873534" y="3109566"/>
              <a:ext cx="3540542"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B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题型处理的灵活性与逻辑复杂性</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19" name="组合 18"/>
          <p:cNvGrpSpPr/>
          <p:nvPr>
            <p:custDataLst>
              <p:tags r:id="rId10"/>
            </p:custDataLst>
          </p:nvPr>
        </p:nvGrpSpPr>
        <p:grpSpPr>
          <a:xfrm>
            <a:off x="4012557" y="4841524"/>
            <a:ext cx="6088665" cy="1085516"/>
            <a:chOff x="4012556" y="5002204"/>
            <a:chExt cx="5516462" cy="1085517"/>
          </a:xfrm>
        </p:grpSpPr>
        <p:sp>
          <p:nvSpPr>
            <p:cNvPr id="16" name="矩形 15"/>
            <p:cNvSpPr/>
            <p:nvPr>
              <p:custDataLst>
                <p:tags r:id="rId11"/>
              </p:custDataLst>
            </p:nvPr>
          </p:nvSpPr>
          <p:spPr>
            <a:xfrm>
              <a:off x="4012556" y="5356835"/>
              <a:ext cx="5516462" cy="730886"/>
            </a:xfrm>
            <a:prstGeom prst="rect">
              <a:avLst/>
            </a:prstGeom>
          </p:spPr>
          <p:txBody>
            <a:bodyPr wrap="square">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在大规模作业处理时，系统面临数据处理压力增大、响应延迟等挑战，需通过分布式架构、并行计算和容错机制来确保稳定运行。</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文本框 46"/>
            <p:cNvSpPr txBox="1"/>
            <p:nvPr>
              <p:custDataLst>
                <p:tags r:id="rId12"/>
              </p:custDataLst>
            </p:nvPr>
          </p:nvSpPr>
          <p:spPr>
            <a:xfrm>
              <a:off x="4012556" y="5002204"/>
              <a:ext cx="3621087" cy="3784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C </a:t>
              </a:r>
              <a:r>
                <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系统高负载下的性能与稳定性保障</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pic>
        <p:nvPicPr>
          <p:cNvPr id="18" name="图片 17"/>
          <p:cNvPicPr>
            <a:picLocks noChangeAspect="1"/>
          </p:cNvPicPr>
          <p:nvPr/>
        </p:nvPicPr>
        <p:blipFill rotWithShape="1">
          <a:blip r:embed="rId13" cstate="screen">
            <a:duotone>
              <a:schemeClr val="accent6">
                <a:shade val="45000"/>
                <a:satMod val="135000"/>
              </a:schemeClr>
              <a:prstClr val="white"/>
            </a:duotone>
          </a:blip>
          <a:srcRect l="48604"/>
          <a:stretch>
            <a:fillRect/>
          </a:stretch>
        </p:blipFill>
        <p:spPr>
          <a:xfrm>
            <a:off x="1" y="2158068"/>
            <a:ext cx="1623327" cy="3158577"/>
          </a:xfrm>
          <a:prstGeom prst="rect">
            <a:avLst/>
          </a:prstGeom>
        </p:spPr>
      </p:pic>
      <p:sp>
        <p:nvSpPr>
          <p:cNvPr id="22" name="矩形 21"/>
          <p:cNvSpPr>
            <a:spLocks noChangeArrowheads="1"/>
          </p:cNvSpPr>
          <p:nvPr/>
        </p:nvSpPr>
        <p:spPr bwMode="auto">
          <a:xfrm>
            <a:off x="634918" y="237124"/>
            <a:ext cx="1887690" cy="61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实践难点</a:t>
            </a:r>
            <a:endParaRPr kumimoji="0" lang="zh-CN" altLang="en-US" sz="3200" b="1" i="0" u="none" strike="noStrike" kern="1200" cap="none" spc="0" normalizeH="0" baseline="0" noProof="0" dirty="0">
              <a:ln>
                <a:noFill/>
              </a:ln>
              <a:solidFill>
                <a:schemeClr val="tx1">
                  <a:lumMod val="95000"/>
                  <a:lumOff val="5000"/>
                </a:schemeClr>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3" name="等腰三角形 22"/>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005825"/>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4</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638798" y="2692405"/>
            <a:ext cx="38404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系统总体设计</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335" y="1693102"/>
            <a:ext cx="3085201" cy="3062177"/>
          </a:xfrm>
          <a:prstGeom prst="rect">
            <a:avLst/>
          </a:prstGeom>
        </p:spPr>
      </p:pic>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81"/>
          <p:cNvSpPr>
            <a:spLocks noChangeArrowheads="1"/>
          </p:cNvSpPr>
          <p:nvPr/>
        </p:nvSpPr>
        <p:spPr bwMode="auto">
          <a:xfrm>
            <a:off x="634918" y="237124"/>
            <a:ext cx="26809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系统总体设计</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83" name="等腰三角形 82"/>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0" name="任意多边形: 形状 32"/>
          <p:cNvSpPr/>
          <p:nvPr>
            <p:custDataLst>
              <p:tags r:id="rId1"/>
            </p:custDataLst>
          </p:nvPr>
        </p:nvSpPr>
        <p:spPr>
          <a:xfrm>
            <a:off x="593408" y="1389698"/>
            <a:ext cx="4535805" cy="4589145"/>
          </a:xfrm>
          <a:custGeom>
            <a:avLst/>
            <a:gdLst>
              <a:gd name="connsiteX0" fmla="*/ 4535824 w 4535823"/>
              <a:gd name="connsiteY0" fmla="*/ 0 h 4657145"/>
              <a:gd name="connsiteX1" fmla="*/ 4535824 w 4535823"/>
              <a:gd name="connsiteY1" fmla="*/ 836181 h 4657145"/>
              <a:gd name="connsiteX2" fmla="*/ 2407364 w 4535823"/>
              <a:gd name="connsiteY2" fmla="*/ 836181 h 4657145"/>
              <a:gd name="connsiteX3" fmla="*/ 1000680 w 4535823"/>
              <a:gd name="connsiteY3" fmla="*/ 1395737 h 4657145"/>
              <a:gd name="connsiteX4" fmla="*/ 418090 w 4535823"/>
              <a:gd name="connsiteY4" fmla="*/ 2746625 h 4657145"/>
              <a:gd name="connsiteX5" fmla="*/ 1000680 w 4535823"/>
              <a:gd name="connsiteY5" fmla="*/ 4097589 h 4657145"/>
              <a:gd name="connsiteX6" fmla="*/ 2407364 w 4535823"/>
              <a:gd name="connsiteY6" fmla="*/ 4657146 h 4657145"/>
              <a:gd name="connsiteX7" fmla="*/ 2328535 w 4535823"/>
              <a:gd name="connsiteY7" fmla="*/ 4657146 h 4657145"/>
              <a:gd name="connsiteX8" fmla="*/ 0 w 4535823"/>
              <a:gd name="connsiteY8" fmla="*/ 2328535 h 4657145"/>
              <a:gd name="connsiteX9" fmla="*/ 682019 w 4535823"/>
              <a:gd name="connsiteY9" fmla="*/ 682019 h 4657145"/>
              <a:gd name="connsiteX10" fmla="*/ 2328535 w 4535823"/>
              <a:gd name="connsiteY10" fmla="*/ 0 h 4657145"/>
              <a:gd name="connsiteX11" fmla="*/ 4535824 w 4535823"/>
              <a:gd name="connsiteY11" fmla="*/ 0 h 465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35823" h="4657145">
                <a:moveTo>
                  <a:pt x="4535824" y="0"/>
                </a:moveTo>
                <a:lnTo>
                  <a:pt x="4535824" y="836181"/>
                </a:lnTo>
                <a:lnTo>
                  <a:pt x="2407364" y="836181"/>
                </a:lnTo>
                <a:cubicBezTo>
                  <a:pt x="1876009" y="836181"/>
                  <a:pt x="1376429" y="1034888"/>
                  <a:pt x="1000680" y="1395737"/>
                </a:cubicBezTo>
                <a:cubicBezTo>
                  <a:pt x="625007" y="1756587"/>
                  <a:pt x="418090" y="2236327"/>
                  <a:pt x="418090" y="2746625"/>
                </a:cubicBezTo>
                <a:cubicBezTo>
                  <a:pt x="418090" y="3256924"/>
                  <a:pt x="625007" y="3736739"/>
                  <a:pt x="1000680" y="4097589"/>
                </a:cubicBezTo>
                <a:cubicBezTo>
                  <a:pt x="1376429" y="4458439"/>
                  <a:pt x="1876009" y="4657146"/>
                  <a:pt x="2407364" y="4657146"/>
                </a:cubicBezTo>
                <a:lnTo>
                  <a:pt x="2328535" y="4657146"/>
                </a:lnTo>
                <a:cubicBezTo>
                  <a:pt x="1042489" y="4657146"/>
                  <a:pt x="0" y="3614581"/>
                  <a:pt x="0" y="2328535"/>
                </a:cubicBezTo>
                <a:cubicBezTo>
                  <a:pt x="0" y="1685512"/>
                  <a:pt x="260660" y="1103378"/>
                  <a:pt x="682019" y="682019"/>
                </a:cubicBezTo>
                <a:cubicBezTo>
                  <a:pt x="1103378" y="260660"/>
                  <a:pt x="1685512" y="0"/>
                  <a:pt x="2328535" y="0"/>
                </a:cubicBezTo>
                <a:lnTo>
                  <a:pt x="4535824" y="0"/>
                </a:lnTo>
                <a:close/>
              </a:path>
            </a:pathLst>
          </a:custGeom>
          <a:solidFill>
            <a:schemeClr val="accent2">
              <a:lumMod val="90000"/>
            </a:schemeClr>
          </a:solidFill>
          <a:ln w="12700" cap="flat">
            <a:solidFill>
              <a:srgbClr val="FFFFFF"/>
            </a:solidFill>
            <a:prstDash val="solid"/>
            <a:miter/>
          </a:ln>
        </p:spPr>
        <p:txBody>
          <a:bodyPr rot="0" spcFirstLastPara="0" vert="horz" wrap="square" lIns="2484120" tIns="0" rIns="0" bIns="3780155"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b="1">
                <a:solidFill>
                  <a:srgbClr val="FFFFFF"/>
                </a:solidFill>
                <a:sym typeface="+mn-ea"/>
              </a:rPr>
              <a:t>前端层</a:t>
            </a:r>
            <a:endParaRPr lang="zh-CN" altLang="en-US" b="1">
              <a:solidFill>
                <a:srgbClr val="FFFFFF"/>
              </a:solidFill>
              <a:sym typeface="+mn-ea"/>
            </a:endParaRPr>
          </a:p>
        </p:txBody>
      </p:sp>
      <p:sp>
        <p:nvSpPr>
          <p:cNvPr id="41" name="任意多边形: 形状 33"/>
          <p:cNvSpPr/>
          <p:nvPr>
            <p:custDataLst>
              <p:tags r:id="rId2"/>
            </p:custDataLst>
          </p:nvPr>
        </p:nvSpPr>
        <p:spPr>
          <a:xfrm>
            <a:off x="1011238" y="2213928"/>
            <a:ext cx="4117975" cy="3764915"/>
          </a:xfrm>
          <a:custGeom>
            <a:avLst/>
            <a:gdLst>
              <a:gd name="connsiteX0" fmla="*/ 4117734 w 4117733"/>
              <a:gd name="connsiteY0" fmla="*/ 0 h 3820965"/>
              <a:gd name="connsiteX1" fmla="*/ 4117734 w 4117733"/>
              <a:gd name="connsiteY1" fmla="*/ 836181 h 3820965"/>
              <a:gd name="connsiteX2" fmla="*/ 2044614 w 4117733"/>
              <a:gd name="connsiteY2" fmla="*/ 836181 h 3820965"/>
              <a:gd name="connsiteX3" fmla="*/ 894485 w 4117733"/>
              <a:gd name="connsiteY3" fmla="*/ 1273275 h 3820965"/>
              <a:gd name="connsiteX4" fmla="*/ 418090 w 4117733"/>
              <a:gd name="connsiteY4" fmla="*/ 2328535 h 3820965"/>
              <a:gd name="connsiteX5" fmla="*/ 894485 w 4117733"/>
              <a:gd name="connsiteY5" fmla="*/ 3383871 h 3820965"/>
              <a:gd name="connsiteX6" fmla="*/ 2044614 w 4117733"/>
              <a:gd name="connsiteY6" fmla="*/ 3820966 h 3820965"/>
              <a:gd name="connsiteX7" fmla="*/ 1989274 w 4117733"/>
              <a:gd name="connsiteY7" fmla="*/ 3820966 h 3820965"/>
              <a:gd name="connsiteX8" fmla="*/ 582590 w 4117733"/>
              <a:gd name="connsiteY8" fmla="*/ 3261408 h 3820965"/>
              <a:gd name="connsiteX9" fmla="*/ 0 w 4117733"/>
              <a:gd name="connsiteY9" fmla="*/ 1910445 h 3820965"/>
              <a:gd name="connsiteX10" fmla="*/ 582590 w 4117733"/>
              <a:gd name="connsiteY10" fmla="*/ 559557 h 3820965"/>
              <a:gd name="connsiteX11" fmla="*/ 1989274 w 4117733"/>
              <a:gd name="connsiteY11" fmla="*/ 0 h 3820965"/>
              <a:gd name="connsiteX12" fmla="*/ 4117734 w 4117733"/>
              <a:gd name="connsiteY12" fmla="*/ 0 h 382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7733" h="3820965">
                <a:moveTo>
                  <a:pt x="4117734" y="0"/>
                </a:moveTo>
                <a:lnTo>
                  <a:pt x="4117734" y="836181"/>
                </a:lnTo>
                <a:lnTo>
                  <a:pt x="2044614" y="836181"/>
                </a:lnTo>
                <a:cubicBezTo>
                  <a:pt x="1610180" y="836181"/>
                  <a:pt x="1201668" y="991406"/>
                  <a:pt x="894485" y="1273275"/>
                </a:cubicBezTo>
                <a:cubicBezTo>
                  <a:pt x="587227" y="1555144"/>
                  <a:pt x="418090" y="1929905"/>
                  <a:pt x="418090" y="2328535"/>
                </a:cubicBezTo>
                <a:cubicBezTo>
                  <a:pt x="418090" y="2727165"/>
                  <a:pt x="587227" y="3102002"/>
                  <a:pt x="894485" y="3383871"/>
                </a:cubicBezTo>
                <a:cubicBezTo>
                  <a:pt x="1201668" y="3665740"/>
                  <a:pt x="1610180" y="3820966"/>
                  <a:pt x="2044614" y="3820966"/>
                </a:cubicBezTo>
                <a:lnTo>
                  <a:pt x="1989274" y="3820966"/>
                </a:lnTo>
                <a:cubicBezTo>
                  <a:pt x="1457919" y="3820966"/>
                  <a:pt x="958339" y="3622258"/>
                  <a:pt x="582590" y="3261408"/>
                </a:cubicBezTo>
                <a:cubicBezTo>
                  <a:pt x="206917" y="2900559"/>
                  <a:pt x="0" y="2420819"/>
                  <a:pt x="0" y="1910445"/>
                </a:cubicBezTo>
                <a:cubicBezTo>
                  <a:pt x="0" y="1400070"/>
                  <a:pt x="206917" y="920407"/>
                  <a:pt x="582590" y="559557"/>
                </a:cubicBezTo>
                <a:cubicBezTo>
                  <a:pt x="958339" y="198707"/>
                  <a:pt x="1457919" y="0"/>
                  <a:pt x="1989274" y="0"/>
                </a:cubicBezTo>
                <a:lnTo>
                  <a:pt x="4117734" y="0"/>
                </a:lnTo>
                <a:close/>
              </a:path>
            </a:pathLst>
          </a:custGeom>
          <a:solidFill>
            <a:schemeClr val="accent3"/>
          </a:solidFill>
          <a:ln w="12700" cap="flat">
            <a:solidFill>
              <a:srgbClr val="FFFFFF"/>
            </a:solidFill>
            <a:prstDash val="solid"/>
            <a:miter/>
          </a:ln>
        </p:spPr>
        <p:txBody>
          <a:bodyPr rot="0" spcFirstLastPara="0" vert="horz" wrap="square" lIns="2051685" tIns="0" rIns="0" bIns="3023870"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b="1">
                <a:solidFill>
                  <a:srgbClr val="FFFFFF"/>
                </a:solidFill>
                <a:sym typeface="+mn-ea"/>
              </a:rPr>
              <a:t>图像处理</a:t>
            </a:r>
            <a:endParaRPr lang="zh-CN" altLang="en-US" b="1">
              <a:solidFill>
                <a:srgbClr val="FFFFFF"/>
              </a:solidFill>
              <a:sym typeface="+mn-ea"/>
            </a:endParaRPr>
          </a:p>
        </p:txBody>
      </p:sp>
      <p:sp>
        <p:nvSpPr>
          <p:cNvPr id="42" name="任意多边形: 形状 34"/>
          <p:cNvSpPr/>
          <p:nvPr>
            <p:custDataLst>
              <p:tags r:id="rId3"/>
            </p:custDataLst>
          </p:nvPr>
        </p:nvSpPr>
        <p:spPr>
          <a:xfrm>
            <a:off x="1429703" y="3038158"/>
            <a:ext cx="3699510" cy="2940685"/>
          </a:xfrm>
          <a:custGeom>
            <a:avLst/>
            <a:gdLst>
              <a:gd name="connsiteX0" fmla="*/ 3699643 w 3699643"/>
              <a:gd name="connsiteY0" fmla="*/ 0 h 2984784"/>
              <a:gd name="connsiteX1" fmla="*/ 3699643 w 3699643"/>
              <a:gd name="connsiteY1" fmla="*/ 836181 h 2984784"/>
              <a:gd name="connsiteX2" fmla="*/ 1651533 w 3699643"/>
              <a:gd name="connsiteY2" fmla="*/ 836181 h 2984784"/>
              <a:gd name="connsiteX3" fmla="*/ 779320 w 3699643"/>
              <a:gd name="connsiteY3" fmla="*/ 1150813 h 2984784"/>
              <a:gd name="connsiteX4" fmla="*/ 418090 w 3699643"/>
              <a:gd name="connsiteY4" fmla="*/ 1910445 h 2984784"/>
              <a:gd name="connsiteX5" fmla="*/ 779320 w 3699643"/>
              <a:gd name="connsiteY5" fmla="*/ 2670153 h 2984784"/>
              <a:gd name="connsiteX6" fmla="*/ 1559477 w 3699643"/>
              <a:gd name="connsiteY6" fmla="*/ 2981820 h 2984784"/>
              <a:gd name="connsiteX7" fmla="*/ 1561530 w 3699643"/>
              <a:gd name="connsiteY7" fmla="*/ 2981972 h 2984784"/>
              <a:gd name="connsiteX8" fmla="*/ 1636177 w 3699643"/>
              <a:gd name="connsiteY8" fmla="*/ 2984785 h 2984784"/>
              <a:gd name="connsiteX9" fmla="*/ 1626523 w 3699643"/>
              <a:gd name="connsiteY9" fmla="*/ 2984785 h 2984784"/>
              <a:gd name="connsiteX10" fmla="*/ 476395 w 3699643"/>
              <a:gd name="connsiteY10" fmla="*/ 2547691 h 2984784"/>
              <a:gd name="connsiteX11" fmla="*/ 0 w 3699643"/>
              <a:gd name="connsiteY11" fmla="*/ 1492354 h 2984784"/>
              <a:gd name="connsiteX12" fmla="*/ 476395 w 3699643"/>
              <a:gd name="connsiteY12" fmla="*/ 437094 h 2984784"/>
              <a:gd name="connsiteX13" fmla="*/ 1626523 w 3699643"/>
              <a:gd name="connsiteY13" fmla="*/ 0 h 2984784"/>
              <a:gd name="connsiteX14" fmla="*/ 3699643 w 3699643"/>
              <a:gd name="connsiteY14" fmla="*/ 0 h 29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99643" h="2984784">
                <a:moveTo>
                  <a:pt x="3699643" y="0"/>
                </a:moveTo>
                <a:lnTo>
                  <a:pt x="3699643" y="836181"/>
                </a:lnTo>
                <a:lnTo>
                  <a:pt x="1651533" y="836181"/>
                </a:lnTo>
                <a:cubicBezTo>
                  <a:pt x="1322078" y="836181"/>
                  <a:pt x="1012311" y="947925"/>
                  <a:pt x="779320" y="1150813"/>
                </a:cubicBezTo>
                <a:cubicBezTo>
                  <a:pt x="546330" y="1353700"/>
                  <a:pt x="418090" y="1623483"/>
                  <a:pt x="418090" y="1910445"/>
                </a:cubicBezTo>
                <a:cubicBezTo>
                  <a:pt x="418090" y="2197407"/>
                  <a:pt x="546330" y="2467189"/>
                  <a:pt x="779320" y="2670153"/>
                </a:cubicBezTo>
                <a:cubicBezTo>
                  <a:pt x="990494" y="2854037"/>
                  <a:pt x="1264685" y="2963044"/>
                  <a:pt x="1559477" y="2981820"/>
                </a:cubicBezTo>
                <a:cubicBezTo>
                  <a:pt x="1560161" y="2981820"/>
                  <a:pt x="1560845" y="2981972"/>
                  <a:pt x="1561530" y="2981972"/>
                </a:cubicBezTo>
                <a:cubicBezTo>
                  <a:pt x="1586159" y="2983873"/>
                  <a:pt x="1611092" y="2984785"/>
                  <a:pt x="1636177" y="2984785"/>
                </a:cubicBezTo>
                <a:lnTo>
                  <a:pt x="1626523" y="2984785"/>
                </a:lnTo>
                <a:cubicBezTo>
                  <a:pt x="1192090" y="2984785"/>
                  <a:pt x="783577" y="2829559"/>
                  <a:pt x="476395" y="2547691"/>
                </a:cubicBezTo>
                <a:cubicBezTo>
                  <a:pt x="169137" y="2265822"/>
                  <a:pt x="0" y="1891060"/>
                  <a:pt x="0" y="1492354"/>
                </a:cubicBezTo>
                <a:cubicBezTo>
                  <a:pt x="0" y="1093648"/>
                  <a:pt x="169137" y="718963"/>
                  <a:pt x="476395" y="437094"/>
                </a:cubicBezTo>
                <a:cubicBezTo>
                  <a:pt x="783577" y="155226"/>
                  <a:pt x="1192090" y="0"/>
                  <a:pt x="1626523" y="0"/>
                </a:cubicBezTo>
                <a:lnTo>
                  <a:pt x="3699643" y="0"/>
                </a:lnTo>
                <a:close/>
              </a:path>
            </a:pathLst>
          </a:custGeom>
          <a:solidFill>
            <a:schemeClr val="accent2">
              <a:lumMod val="90000"/>
              <a:lumOff val="10000"/>
            </a:schemeClr>
          </a:solidFill>
          <a:ln w="12700" cap="flat">
            <a:solidFill>
              <a:srgbClr val="FFFFFF"/>
            </a:solidFill>
            <a:prstDash val="solid"/>
            <a:miter/>
          </a:ln>
        </p:spPr>
        <p:txBody>
          <a:bodyPr rot="0" spcFirstLastPara="0" vert="horz" wrap="square" lIns="1619885" tIns="0" rIns="0" bIns="2232025"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en-US" altLang="zh-CN" b="1">
                <a:solidFill>
                  <a:srgbClr val="FFFFFF"/>
                </a:solidFill>
                <a:sym typeface="+mn-ea"/>
              </a:rPr>
              <a:t>OCR</a:t>
            </a:r>
            <a:r>
              <a:rPr lang="zh-CN" altLang="en-US" b="1">
                <a:solidFill>
                  <a:srgbClr val="FFFFFF"/>
                </a:solidFill>
                <a:sym typeface="+mn-ea"/>
              </a:rPr>
              <a:t>识别模块</a:t>
            </a:r>
            <a:endParaRPr lang="zh-CN" altLang="en-US" b="1">
              <a:solidFill>
                <a:srgbClr val="FFFFFF"/>
              </a:solidFill>
              <a:sym typeface="+mn-ea"/>
            </a:endParaRPr>
          </a:p>
        </p:txBody>
      </p:sp>
      <p:sp>
        <p:nvSpPr>
          <p:cNvPr id="43" name="任意多边形: 形状 35"/>
          <p:cNvSpPr/>
          <p:nvPr>
            <p:custDataLst>
              <p:tags r:id="rId4"/>
            </p:custDataLst>
          </p:nvPr>
        </p:nvSpPr>
        <p:spPr>
          <a:xfrm>
            <a:off x="1847533" y="3861118"/>
            <a:ext cx="3281680" cy="2114550"/>
          </a:xfrm>
          <a:custGeom>
            <a:avLst/>
            <a:gdLst>
              <a:gd name="connsiteX0" fmla="*/ 3281553 w 3281552"/>
              <a:gd name="connsiteY0" fmla="*/ 0 h 2145639"/>
              <a:gd name="connsiteX1" fmla="*/ 3281553 w 3281552"/>
              <a:gd name="connsiteY1" fmla="*/ 836181 h 2145639"/>
              <a:gd name="connsiteX2" fmla="*/ 1218087 w 3281552"/>
              <a:gd name="connsiteY2" fmla="*/ 836181 h 2145639"/>
              <a:gd name="connsiteX3" fmla="*/ 652373 w 3281552"/>
              <a:gd name="connsiteY3" fmla="*/ 1028350 h 2145639"/>
              <a:gd name="connsiteX4" fmla="*/ 418090 w 3281552"/>
              <a:gd name="connsiteY4" fmla="*/ 1492354 h 2145639"/>
              <a:gd name="connsiteX5" fmla="*/ 652373 w 3281552"/>
              <a:gd name="connsiteY5" fmla="*/ 1956435 h 2145639"/>
              <a:gd name="connsiteX6" fmla="*/ 1141387 w 3281552"/>
              <a:gd name="connsiteY6" fmla="*/ 2145640 h 2145639"/>
              <a:gd name="connsiteX7" fmla="*/ 361230 w 3281552"/>
              <a:gd name="connsiteY7" fmla="*/ 1833972 h 2145639"/>
              <a:gd name="connsiteX8" fmla="*/ 0 w 3281552"/>
              <a:gd name="connsiteY8" fmla="*/ 1074264 h 2145639"/>
              <a:gd name="connsiteX9" fmla="*/ 361230 w 3281552"/>
              <a:gd name="connsiteY9" fmla="*/ 314632 h 2145639"/>
              <a:gd name="connsiteX10" fmla="*/ 1233443 w 3281552"/>
              <a:gd name="connsiteY10" fmla="*/ 0 h 2145639"/>
              <a:gd name="connsiteX11" fmla="*/ 3281553 w 3281552"/>
              <a:gd name="connsiteY11" fmla="*/ 0 h 214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81552" h="2145639">
                <a:moveTo>
                  <a:pt x="3281553" y="0"/>
                </a:moveTo>
                <a:lnTo>
                  <a:pt x="3281553" y="836181"/>
                </a:lnTo>
                <a:lnTo>
                  <a:pt x="1218087" y="836181"/>
                </a:lnTo>
                <a:cubicBezTo>
                  <a:pt x="1004405" y="836181"/>
                  <a:pt x="803494" y="904443"/>
                  <a:pt x="652373" y="1028350"/>
                </a:cubicBezTo>
                <a:cubicBezTo>
                  <a:pt x="501252" y="1152333"/>
                  <a:pt x="418090" y="1317136"/>
                  <a:pt x="418090" y="1492354"/>
                </a:cubicBezTo>
                <a:cubicBezTo>
                  <a:pt x="418090" y="1667572"/>
                  <a:pt x="501252" y="1832452"/>
                  <a:pt x="652373" y="1956435"/>
                </a:cubicBezTo>
                <a:cubicBezTo>
                  <a:pt x="785250" y="2065366"/>
                  <a:pt x="956667" y="2131348"/>
                  <a:pt x="1141387" y="2145640"/>
                </a:cubicBezTo>
                <a:cubicBezTo>
                  <a:pt x="846595" y="2126863"/>
                  <a:pt x="572404" y="2017856"/>
                  <a:pt x="361230" y="1833972"/>
                </a:cubicBezTo>
                <a:cubicBezTo>
                  <a:pt x="128240" y="1631008"/>
                  <a:pt x="0" y="1361226"/>
                  <a:pt x="0" y="1074264"/>
                </a:cubicBezTo>
                <a:cubicBezTo>
                  <a:pt x="0" y="787302"/>
                  <a:pt x="128240" y="517520"/>
                  <a:pt x="361230" y="314632"/>
                </a:cubicBezTo>
                <a:cubicBezTo>
                  <a:pt x="594220" y="111744"/>
                  <a:pt x="903987" y="0"/>
                  <a:pt x="1233443" y="0"/>
                </a:cubicBezTo>
                <a:lnTo>
                  <a:pt x="3281553" y="0"/>
                </a:lnTo>
                <a:close/>
              </a:path>
            </a:pathLst>
          </a:custGeom>
          <a:solidFill>
            <a:schemeClr val="accent3">
              <a:lumMod val="80000"/>
              <a:lumOff val="20000"/>
            </a:schemeClr>
          </a:solidFill>
          <a:ln w="12700" cap="flat">
            <a:solidFill>
              <a:srgbClr val="FFFFFF"/>
            </a:solidFill>
            <a:prstDash val="solid"/>
            <a:miter/>
          </a:ln>
        </p:spPr>
        <p:txBody>
          <a:bodyPr rot="0" spcFirstLastPara="0" vert="horz" wrap="square" lIns="1224280" tIns="0" rIns="0" bIns="1296035"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b="1">
                <a:solidFill>
                  <a:srgbClr val="FFFFFF"/>
                </a:solidFill>
                <a:sym typeface="+mn-ea"/>
              </a:rPr>
              <a:t>批改逻辑</a:t>
            </a:r>
            <a:endParaRPr lang="zh-CN" altLang="en-US" b="1">
              <a:solidFill>
                <a:srgbClr val="FFFFFF"/>
              </a:solidFill>
              <a:sym typeface="+mn-ea"/>
            </a:endParaRPr>
          </a:p>
        </p:txBody>
      </p:sp>
      <p:sp>
        <p:nvSpPr>
          <p:cNvPr id="44" name="任意多边形: 形状 36"/>
          <p:cNvSpPr/>
          <p:nvPr>
            <p:custDataLst>
              <p:tags r:id="rId5"/>
            </p:custDataLst>
          </p:nvPr>
        </p:nvSpPr>
        <p:spPr>
          <a:xfrm>
            <a:off x="2265998" y="4685348"/>
            <a:ext cx="2863215" cy="1293495"/>
          </a:xfrm>
          <a:custGeom>
            <a:avLst/>
            <a:gdLst>
              <a:gd name="connsiteX0" fmla="*/ 2863463 w 2863462"/>
              <a:gd name="connsiteY0" fmla="*/ 0 h 1312423"/>
              <a:gd name="connsiteX1" fmla="*/ 2863463 w 2863462"/>
              <a:gd name="connsiteY1" fmla="*/ 1312424 h 1312423"/>
              <a:gd name="connsiteX2" fmla="*/ 815352 w 2863462"/>
              <a:gd name="connsiteY2" fmla="*/ 1312424 h 1312423"/>
              <a:gd name="connsiteX3" fmla="*/ 725349 w 2863462"/>
              <a:gd name="connsiteY3" fmla="*/ 1309611 h 1312423"/>
              <a:gd name="connsiteX4" fmla="*/ 723296 w 2863462"/>
              <a:gd name="connsiteY4" fmla="*/ 1309459 h 1312423"/>
              <a:gd name="connsiteX5" fmla="*/ 234283 w 2863462"/>
              <a:gd name="connsiteY5" fmla="*/ 1120254 h 1312423"/>
              <a:gd name="connsiteX6" fmla="*/ 0 w 2863462"/>
              <a:gd name="connsiteY6" fmla="*/ 656174 h 1312423"/>
              <a:gd name="connsiteX7" fmla="*/ 234283 w 2863462"/>
              <a:gd name="connsiteY7" fmla="*/ 192170 h 1312423"/>
              <a:gd name="connsiteX8" fmla="*/ 799997 w 2863462"/>
              <a:gd name="connsiteY8" fmla="*/ 0 h 1312423"/>
              <a:gd name="connsiteX9" fmla="*/ 2863463 w 2863462"/>
              <a:gd name="connsiteY9" fmla="*/ 0 h 13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3462" h="1312423">
                <a:moveTo>
                  <a:pt x="2863463" y="0"/>
                </a:moveTo>
                <a:lnTo>
                  <a:pt x="2863463" y="1312424"/>
                </a:lnTo>
                <a:lnTo>
                  <a:pt x="815352" y="1312424"/>
                </a:lnTo>
                <a:cubicBezTo>
                  <a:pt x="785174" y="1312424"/>
                  <a:pt x="755147" y="1311512"/>
                  <a:pt x="725349" y="1309611"/>
                </a:cubicBezTo>
                <a:cubicBezTo>
                  <a:pt x="724664" y="1309611"/>
                  <a:pt x="723980" y="1309535"/>
                  <a:pt x="723296" y="1309459"/>
                </a:cubicBezTo>
                <a:cubicBezTo>
                  <a:pt x="538576" y="1295168"/>
                  <a:pt x="367159" y="1229186"/>
                  <a:pt x="234283" y="1120254"/>
                </a:cubicBezTo>
                <a:cubicBezTo>
                  <a:pt x="83162" y="996271"/>
                  <a:pt x="0" y="831468"/>
                  <a:pt x="0" y="656174"/>
                </a:cubicBezTo>
                <a:cubicBezTo>
                  <a:pt x="0" y="480880"/>
                  <a:pt x="83162" y="316152"/>
                  <a:pt x="234283" y="192170"/>
                </a:cubicBezTo>
                <a:cubicBezTo>
                  <a:pt x="385403" y="68263"/>
                  <a:pt x="586315" y="0"/>
                  <a:pt x="799997" y="0"/>
                </a:cubicBezTo>
                <a:lnTo>
                  <a:pt x="2863463" y="0"/>
                </a:lnTo>
                <a:close/>
              </a:path>
            </a:pathLst>
          </a:custGeom>
          <a:solidFill>
            <a:schemeClr val="accent2">
              <a:lumMod val="70000"/>
              <a:lumOff val="30000"/>
            </a:schemeClr>
          </a:solidFill>
          <a:ln w="12700" cap="flat">
            <a:solidFill>
              <a:srgbClr val="FFFFFF"/>
            </a:solidFill>
            <a:prstDash val="solid"/>
            <a:miter/>
          </a:ln>
        </p:spPr>
        <p:txBody>
          <a:bodyPr rot="0" spcFirstLastPara="0" vert="horz" wrap="square" lIns="791845" tIns="45720" rIns="0" bIns="36195" numCol="1" spcCol="0" rtlCol="0" fromWordArt="0" anchor="ctr" anchorCtr="0" forceAA="0" compatLnSpc="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b="1">
                <a:solidFill>
                  <a:srgbClr val="FFFFFF"/>
                </a:solidFill>
                <a:sym typeface="+mn-ea"/>
              </a:rPr>
              <a:t>数据存储</a:t>
            </a:r>
            <a:endParaRPr lang="zh-CN" altLang="en-US" b="1">
              <a:solidFill>
                <a:srgbClr val="FFFFFF"/>
              </a:solidFill>
              <a:sym typeface="+mn-ea"/>
            </a:endParaRPr>
          </a:p>
        </p:txBody>
      </p:sp>
      <p:sp>
        <p:nvSpPr>
          <p:cNvPr id="47" name="文本框 47"/>
          <p:cNvSpPr txBox="1"/>
          <p:nvPr>
            <p:custDataLst>
              <p:tags r:id="rId6"/>
            </p:custDataLst>
          </p:nvPr>
        </p:nvSpPr>
        <p:spPr>
          <a:xfrm>
            <a:off x="2536508" y="2440623"/>
            <a:ext cx="483235" cy="404495"/>
          </a:xfrm>
          <a:prstGeom prst="rect">
            <a:avLst/>
          </a:prstGeom>
          <a:noFill/>
        </p:spPr>
        <p:txBody>
          <a:bodyPr wrap="none" rtlCol="0" anchor="b"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FFFFFF"/>
                </a:solidFill>
              </a:rPr>
              <a:t>02</a:t>
            </a:r>
            <a:endParaRPr lang="en-US" altLang="zh-CN" sz="2400" b="1">
              <a:solidFill>
                <a:srgbClr val="FFFFFF"/>
              </a:solidFill>
            </a:endParaRPr>
          </a:p>
        </p:txBody>
      </p:sp>
      <p:sp>
        <p:nvSpPr>
          <p:cNvPr id="48" name="文本框 48"/>
          <p:cNvSpPr txBox="1"/>
          <p:nvPr>
            <p:custDataLst>
              <p:tags r:id="rId7"/>
            </p:custDataLst>
          </p:nvPr>
        </p:nvSpPr>
        <p:spPr>
          <a:xfrm>
            <a:off x="2536508" y="3229928"/>
            <a:ext cx="483235" cy="404495"/>
          </a:xfrm>
          <a:prstGeom prst="rect">
            <a:avLst/>
          </a:prstGeom>
          <a:noFill/>
        </p:spPr>
        <p:txBody>
          <a:bodyPr wrap="none" rtlCol="0" anchor="b"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FFFFFF"/>
                </a:solidFill>
              </a:rPr>
              <a:t>03</a:t>
            </a:r>
            <a:endParaRPr lang="en-US" altLang="zh-CN" sz="2400" b="1">
              <a:solidFill>
                <a:srgbClr val="FFFFFF"/>
              </a:solidFill>
            </a:endParaRPr>
          </a:p>
        </p:txBody>
      </p:sp>
      <p:sp>
        <p:nvSpPr>
          <p:cNvPr id="49" name="文本框 49"/>
          <p:cNvSpPr txBox="1"/>
          <p:nvPr>
            <p:custDataLst>
              <p:tags r:id="rId8"/>
            </p:custDataLst>
          </p:nvPr>
        </p:nvSpPr>
        <p:spPr>
          <a:xfrm>
            <a:off x="2536508" y="4111308"/>
            <a:ext cx="483235" cy="404495"/>
          </a:xfrm>
          <a:prstGeom prst="rect">
            <a:avLst/>
          </a:prstGeom>
          <a:noFill/>
        </p:spPr>
        <p:txBody>
          <a:bodyPr wrap="none" rtlCol="0" anchor="b"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FFFFFF"/>
                </a:solidFill>
              </a:rPr>
              <a:t>04</a:t>
            </a:r>
            <a:endParaRPr lang="en-US" altLang="zh-CN" sz="2400" b="1">
              <a:solidFill>
                <a:srgbClr val="FFFFFF"/>
              </a:solidFill>
            </a:endParaRPr>
          </a:p>
        </p:txBody>
      </p:sp>
      <p:sp>
        <p:nvSpPr>
          <p:cNvPr id="27" name="文本框 54"/>
          <p:cNvSpPr txBox="1"/>
          <p:nvPr>
            <p:custDataLst>
              <p:tags r:id="rId9"/>
            </p:custDataLst>
          </p:nvPr>
        </p:nvSpPr>
        <p:spPr>
          <a:xfrm>
            <a:off x="2536508" y="5153978"/>
            <a:ext cx="483235" cy="404495"/>
          </a:xfrm>
          <a:prstGeom prst="rect">
            <a:avLst/>
          </a:prstGeom>
          <a:noFill/>
        </p:spPr>
        <p:txBody>
          <a:bodyPr wrap="none" rtlCol="0" anchor="b"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FFFFFF"/>
                </a:solidFill>
              </a:rPr>
              <a:t>05</a:t>
            </a:r>
            <a:endParaRPr lang="en-US" altLang="zh-CN" sz="2400" b="1">
              <a:solidFill>
                <a:srgbClr val="FFFFFF"/>
              </a:solidFill>
            </a:endParaRPr>
          </a:p>
        </p:txBody>
      </p:sp>
      <p:sp>
        <p:nvSpPr>
          <p:cNvPr id="30" name="文本框 47"/>
          <p:cNvSpPr txBox="1"/>
          <p:nvPr>
            <p:custDataLst>
              <p:tags r:id="rId10"/>
            </p:custDataLst>
          </p:nvPr>
        </p:nvSpPr>
        <p:spPr>
          <a:xfrm>
            <a:off x="2536508" y="1643063"/>
            <a:ext cx="483235" cy="404495"/>
          </a:xfrm>
          <a:prstGeom prst="rect">
            <a:avLst/>
          </a:prstGeom>
          <a:noFill/>
        </p:spPr>
        <p:txBody>
          <a:bodyPr wrap="none" rtlCol="0" anchor="b" anchorCtr="0">
            <a:normAutofit fontScale="9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rgbClr val="FFFFFF"/>
                </a:solidFill>
              </a:rPr>
              <a:t>01</a:t>
            </a:r>
            <a:endParaRPr lang="en-US" altLang="zh-CN" sz="2400" b="1">
              <a:solidFill>
                <a:srgbClr val="FFFFFF"/>
              </a:solidFill>
            </a:endParaRPr>
          </a:p>
        </p:txBody>
      </p:sp>
      <p:grpSp>
        <p:nvGrpSpPr>
          <p:cNvPr id="108" name="组合 107"/>
          <p:cNvGrpSpPr/>
          <p:nvPr>
            <p:custDataLst>
              <p:tags r:id="rId11"/>
            </p:custDataLst>
          </p:nvPr>
        </p:nvGrpSpPr>
        <p:grpSpPr>
          <a:xfrm>
            <a:off x="5173980" y="1400175"/>
            <a:ext cx="6231890" cy="725170"/>
            <a:chOff x="8148" y="2205"/>
            <a:chExt cx="9814" cy="1142"/>
          </a:xfrm>
        </p:grpSpPr>
        <p:sp>
          <p:nvSpPr>
            <p:cNvPr id="7" name="燕尾形 6"/>
            <p:cNvSpPr/>
            <p:nvPr>
              <p:custDataLst>
                <p:tags r:id="rId12"/>
              </p:custDataLst>
            </p:nvPr>
          </p:nvSpPr>
          <p:spPr>
            <a:xfrm>
              <a:off x="8148" y="2257"/>
              <a:ext cx="9815" cy="1091"/>
            </a:xfrm>
            <a:prstGeom prst="chevron">
              <a:avLst/>
            </a:prstGeom>
            <a:gradFill>
              <a:gsLst>
                <a:gs pos="0">
                  <a:schemeClr val="accent2">
                    <a:lumMod val="40000"/>
                    <a:lumOff val="60000"/>
                    <a:alpha val="13000"/>
                  </a:schemeClr>
                </a:gs>
                <a:gs pos="100000">
                  <a:schemeClr val="accent2">
                    <a:lumMod val="60000"/>
                    <a:lumOff val="40000"/>
                    <a:alpha val="50000"/>
                  </a:schemeClr>
                </a:gs>
              </a:gsLst>
              <a:lin ang="0" scaled="0"/>
            </a:gradFill>
            <a:ln>
              <a:noFill/>
            </a:ln>
            <a:effectLst>
              <a:outerShdw blurRad="177800" dist="63500" dir="8100000" algn="tr" rotWithShape="0">
                <a:schemeClr val="accent2">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cs typeface="思源黑体 CN Regular" panose="020B0500000000000000" charset="-122"/>
                <a:sym typeface="+mn-ea"/>
              </a:endParaRPr>
            </a:p>
          </p:txBody>
        </p:sp>
        <p:sp>
          <p:nvSpPr>
            <p:cNvPr id="8" name="燕尾形 7"/>
            <p:cNvSpPr/>
            <p:nvPr>
              <p:custDataLst>
                <p:tags r:id="rId13"/>
              </p:custDataLst>
            </p:nvPr>
          </p:nvSpPr>
          <p:spPr>
            <a:xfrm>
              <a:off x="8860" y="2406"/>
              <a:ext cx="4403" cy="742"/>
            </a:xfrm>
            <a:prstGeom prst="chevron">
              <a:avLst/>
            </a:prstGeom>
            <a:gradFill>
              <a:gsLst>
                <a:gs pos="0">
                  <a:schemeClr val="accent2">
                    <a:lumMod val="55000"/>
                    <a:lumOff val="45000"/>
                    <a:alpha val="100000"/>
                  </a:schemeClr>
                </a:gs>
                <a:gs pos="100000">
                  <a:schemeClr val="accent2">
                    <a:alpha val="100000"/>
                  </a:schemeClr>
                </a:gs>
              </a:gsLst>
              <a:lin ang="0" scaled="0"/>
            </a:gradFill>
            <a:ln>
              <a:noFill/>
            </a:ln>
            <a:effectLst>
              <a:outerShdw blurRad="152400" dist="88900" dir="8100000" algn="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b="1" cap="all" dirty="0">
                  <a:solidFill>
                    <a:srgbClr val="FFFFFF"/>
                  </a:solidFill>
                  <a:uFillTx/>
                  <a:latin typeface="+mn-ea"/>
                  <a:cs typeface="+mn-ea"/>
                  <a:sym typeface="+mn-ea"/>
                </a:rPr>
                <a:t>用户界面和交互逻辑</a:t>
              </a:r>
              <a:endParaRPr lang="en-US" altLang="zh-CN" sz="1400" b="1" cap="all" dirty="0">
                <a:solidFill>
                  <a:srgbClr val="FFFFFF"/>
                </a:solidFill>
                <a:uFillTx/>
                <a:latin typeface="+mn-ea"/>
                <a:cs typeface="+mn-ea"/>
                <a:sym typeface="+mn-ea"/>
              </a:endParaRPr>
            </a:p>
          </p:txBody>
        </p:sp>
        <p:sp>
          <p:nvSpPr>
            <p:cNvPr id="9" name="燕尾形 8"/>
            <p:cNvSpPr/>
            <p:nvPr>
              <p:custDataLst>
                <p:tags r:id="rId14"/>
              </p:custDataLst>
            </p:nvPr>
          </p:nvSpPr>
          <p:spPr>
            <a:xfrm>
              <a:off x="13814" y="2406"/>
              <a:ext cx="2902" cy="742"/>
            </a:xfrm>
            <a:prstGeom prst="chevron">
              <a:avLst/>
            </a:prstGeom>
            <a:solidFill>
              <a:srgbClr val="03307F"/>
            </a:solidFill>
            <a:ln>
              <a:noFill/>
            </a:ln>
            <a:effectLst>
              <a:outerShdw blurRad="152400" dist="88900" dir="8100000" algn="tr"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cap="all" dirty="0">
                  <a:solidFill>
                    <a:srgbClr val="FFFFFF"/>
                  </a:solidFill>
                  <a:uFillTx/>
                  <a:latin typeface="+mn-ea"/>
                  <a:cs typeface="+mn-ea"/>
                  <a:sym typeface="+mn-ea"/>
                </a:rPr>
                <a:t>Vue.js+ HTML</a:t>
              </a:r>
              <a:endParaRPr lang="en-US" altLang="zh-CN" sz="1400" cap="all" dirty="0">
                <a:solidFill>
                  <a:srgbClr val="FFFFFF"/>
                </a:solidFill>
                <a:uFillTx/>
                <a:latin typeface="+mn-ea"/>
                <a:cs typeface="+mn-ea"/>
                <a:sym typeface="+mn-ea"/>
              </a:endParaRPr>
            </a:p>
          </p:txBody>
        </p:sp>
        <p:cxnSp>
          <p:nvCxnSpPr>
            <p:cNvPr id="11" name="直接连接符 10"/>
            <p:cNvCxnSpPr/>
            <p:nvPr>
              <p:custDataLst>
                <p:tags r:id="rId15"/>
              </p:custDataLst>
            </p:nvPr>
          </p:nvCxnSpPr>
          <p:spPr>
            <a:xfrm>
              <a:off x="8753" y="2205"/>
              <a:ext cx="7963" cy="0"/>
            </a:xfrm>
            <a:prstGeom prst="line">
              <a:avLst/>
            </a:prstGeom>
            <a:ln w="9525">
              <a:gradFill>
                <a:gsLst>
                  <a:gs pos="0">
                    <a:schemeClr val="accent2">
                      <a:lumMod val="20000"/>
                      <a:lumOff val="80000"/>
                      <a:alpha val="0"/>
                    </a:schemeClr>
                  </a:gs>
                  <a:gs pos="100000">
                    <a:schemeClr val="accent2">
                      <a:lumMod val="60000"/>
                      <a:lumOff val="40000"/>
                      <a:alpha val="4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grpSp>
      <p:grpSp>
        <p:nvGrpSpPr>
          <p:cNvPr id="100" name="组合 99"/>
          <p:cNvGrpSpPr/>
          <p:nvPr>
            <p:custDataLst>
              <p:tags r:id="rId16"/>
            </p:custDataLst>
          </p:nvPr>
        </p:nvGrpSpPr>
        <p:grpSpPr>
          <a:xfrm>
            <a:off x="5163185" y="2160905"/>
            <a:ext cx="6308090" cy="820420"/>
            <a:chOff x="8131" y="3403"/>
            <a:chExt cx="9934" cy="1292"/>
          </a:xfrm>
        </p:grpSpPr>
        <p:cxnSp>
          <p:nvCxnSpPr>
            <p:cNvPr id="10" name="直接连接符 9"/>
            <p:cNvCxnSpPr/>
            <p:nvPr>
              <p:custDataLst>
                <p:tags r:id="rId17"/>
              </p:custDataLst>
            </p:nvPr>
          </p:nvCxnSpPr>
          <p:spPr>
            <a:xfrm>
              <a:off x="9718" y="3403"/>
              <a:ext cx="7309" cy="0"/>
            </a:xfrm>
            <a:prstGeom prst="line">
              <a:avLst/>
            </a:prstGeom>
            <a:ln w="9525">
              <a:gradFill>
                <a:gsLst>
                  <a:gs pos="0">
                    <a:schemeClr val="accent2">
                      <a:lumMod val="20000"/>
                      <a:lumOff val="80000"/>
                      <a:alpha val="0"/>
                    </a:schemeClr>
                  </a:gs>
                  <a:gs pos="100000">
                    <a:schemeClr val="accent2">
                      <a:lumMod val="60000"/>
                      <a:lumOff val="40000"/>
                      <a:alpha val="4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sp>
          <p:nvSpPr>
            <p:cNvPr id="64" name="燕尾形 63"/>
            <p:cNvSpPr/>
            <p:nvPr>
              <p:custDataLst>
                <p:tags r:id="rId18"/>
              </p:custDataLst>
            </p:nvPr>
          </p:nvSpPr>
          <p:spPr>
            <a:xfrm>
              <a:off x="8131" y="3536"/>
              <a:ext cx="9934" cy="1104"/>
            </a:xfrm>
            <a:prstGeom prst="chevron">
              <a:avLst/>
            </a:prstGeom>
            <a:gradFill>
              <a:gsLst>
                <a:gs pos="0">
                  <a:schemeClr val="accent4">
                    <a:lumMod val="40000"/>
                    <a:lumOff val="60000"/>
                    <a:alpha val="13000"/>
                  </a:schemeClr>
                </a:gs>
                <a:gs pos="100000">
                  <a:schemeClr val="accent4">
                    <a:lumMod val="60000"/>
                    <a:lumOff val="40000"/>
                    <a:alpha val="50000"/>
                  </a:schemeClr>
                </a:gs>
              </a:gsLst>
              <a:lin ang="0" scaled="0"/>
            </a:gradFill>
            <a:ln>
              <a:noFill/>
            </a:ln>
            <a:effectLst>
              <a:outerShdw blurRad="177800" dist="63500" dir="8100000" algn="tr" rotWithShape="0">
                <a:schemeClr val="accent4">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cs typeface="思源黑体 CN Regular" panose="020B0500000000000000" charset="-122"/>
                <a:sym typeface="+mn-ea"/>
              </a:endParaRPr>
            </a:p>
          </p:txBody>
        </p:sp>
        <p:sp>
          <p:nvSpPr>
            <p:cNvPr id="65" name="燕尾形 64"/>
            <p:cNvSpPr/>
            <p:nvPr>
              <p:custDataLst>
                <p:tags r:id="rId19"/>
              </p:custDataLst>
            </p:nvPr>
          </p:nvSpPr>
          <p:spPr>
            <a:xfrm>
              <a:off x="8860" y="3714"/>
              <a:ext cx="4404" cy="751"/>
            </a:xfrm>
            <a:prstGeom prst="chevron">
              <a:avLst/>
            </a:prstGeom>
            <a:gradFill>
              <a:gsLst>
                <a:gs pos="0">
                  <a:schemeClr val="accent4">
                    <a:lumMod val="55000"/>
                    <a:lumOff val="45000"/>
                    <a:alpha val="100000"/>
                  </a:schemeClr>
                </a:gs>
                <a:gs pos="100000">
                  <a:schemeClr val="accent4">
                    <a:alpha val="100000"/>
                  </a:schemeClr>
                </a:gs>
              </a:gsLst>
              <a:lin ang="0" scaled="0"/>
            </a:gradFill>
            <a:ln>
              <a:noFill/>
            </a:ln>
            <a:effectLst>
              <a:outerShdw blurRad="152400" dist="88900" dir="8100000" algn="tr"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b="1" cap="all" dirty="0">
                  <a:solidFill>
                    <a:srgbClr val="FFFFFF"/>
                  </a:solidFill>
                  <a:uFillTx/>
                  <a:latin typeface="+mn-ea"/>
                  <a:cs typeface="+mn-ea"/>
                  <a:sym typeface="+mn-ea"/>
                </a:rPr>
                <a:t>处理请求</a:t>
              </a:r>
              <a:r>
                <a:rPr lang="zh-CN" altLang="en-US" sz="1400" b="1" cap="all" dirty="0">
                  <a:solidFill>
                    <a:srgbClr val="FFFFFF"/>
                  </a:solidFill>
                  <a:uFillTx/>
                  <a:latin typeface="+mn-ea"/>
                  <a:cs typeface="+mn-ea"/>
                  <a:sym typeface="+mn-ea"/>
                </a:rPr>
                <a:t>、用户认证等</a:t>
              </a:r>
              <a:endParaRPr lang="zh-CN" altLang="en-US" sz="1400" b="1" cap="all" dirty="0">
                <a:solidFill>
                  <a:srgbClr val="FFFFFF"/>
                </a:solidFill>
                <a:uFillTx/>
                <a:latin typeface="+mn-ea"/>
                <a:cs typeface="+mn-ea"/>
                <a:sym typeface="+mn-ea"/>
              </a:endParaRPr>
            </a:p>
          </p:txBody>
        </p:sp>
        <p:sp>
          <p:nvSpPr>
            <p:cNvPr id="66" name="燕尾形 65"/>
            <p:cNvSpPr/>
            <p:nvPr>
              <p:custDataLst>
                <p:tags r:id="rId20"/>
              </p:custDataLst>
            </p:nvPr>
          </p:nvSpPr>
          <p:spPr>
            <a:xfrm>
              <a:off x="13867" y="3713"/>
              <a:ext cx="2937" cy="751"/>
            </a:xfrm>
            <a:prstGeom prst="chevron">
              <a:avLst/>
            </a:prstGeom>
            <a:gradFill>
              <a:gsLst>
                <a:gs pos="0">
                  <a:schemeClr val="accent4">
                    <a:lumMod val="85000"/>
                    <a:lumOff val="15000"/>
                    <a:alpha val="100000"/>
                  </a:schemeClr>
                </a:gs>
                <a:gs pos="100000">
                  <a:schemeClr val="accent4">
                    <a:lumMod val="90000"/>
                    <a:alpha val="100000"/>
                  </a:schemeClr>
                </a:gs>
              </a:gsLst>
              <a:lin ang="0" scaled="0"/>
            </a:gradFill>
            <a:ln>
              <a:noFill/>
            </a:ln>
            <a:effectLst>
              <a:outerShdw blurRad="152400" dist="88900" dir="8100000" algn="tr"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cap="all" dirty="0">
                  <a:solidFill>
                    <a:srgbClr val="FFFFFF"/>
                  </a:solidFill>
                  <a:uFillTx/>
                  <a:latin typeface="+mn-ea"/>
                  <a:cs typeface="+mn-ea"/>
                  <a:sym typeface="+mn-ea"/>
                </a:rPr>
                <a:t>JAVA + SSM</a:t>
              </a:r>
              <a:endParaRPr lang="en-US" altLang="zh-CN" sz="1400" cap="all" dirty="0">
                <a:solidFill>
                  <a:srgbClr val="FFFFFF"/>
                </a:solidFill>
                <a:uFillTx/>
                <a:latin typeface="+mn-ea"/>
                <a:cs typeface="+mn-ea"/>
                <a:sym typeface="+mn-ea"/>
              </a:endParaRPr>
            </a:p>
          </p:txBody>
        </p:sp>
        <p:cxnSp>
          <p:nvCxnSpPr>
            <p:cNvPr id="67" name="直接连接符 66"/>
            <p:cNvCxnSpPr/>
            <p:nvPr>
              <p:custDataLst>
                <p:tags r:id="rId21"/>
              </p:custDataLst>
            </p:nvPr>
          </p:nvCxnSpPr>
          <p:spPr>
            <a:xfrm>
              <a:off x="9719" y="4695"/>
              <a:ext cx="7398" cy="0"/>
            </a:xfrm>
            <a:prstGeom prst="line">
              <a:avLst/>
            </a:prstGeom>
            <a:ln w="9525">
              <a:gradFill>
                <a:gsLst>
                  <a:gs pos="0">
                    <a:schemeClr val="accent4">
                      <a:lumMod val="20000"/>
                      <a:lumOff val="80000"/>
                      <a:alpha val="0"/>
                    </a:schemeClr>
                  </a:gs>
                  <a:gs pos="100000">
                    <a:schemeClr val="accent4">
                      <a:lumMod val="60000"/>
                      <a:lumOff val="40000"/>
                      <a:alpha val="4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custDataLst>
                <p:tags r:id="rId22"/>
              </p:custDataLst>
            </p:nvPr>
          </p:nvCxnSpPr>
          <p:spPr>
            <a:xfrm>
              <a:off x="8743" y="3483"/>
              <a:ext cx="8060" cy="0"/>
            </a:xfrm>
            <a:prstGeom prst="line">
              <a:avLst/>
            </a:prstGeom>
            <a:ln w="9525">
              <a:gradFill>
                <a:gsLst>
                  <a:gs pos="0">
                    <a:schemeClr val="accent4">
                      <a:lumMod val="20000"/>
                      <a:lumOff val="80000"/>
                      <a:alpha val="0"/>
                    </a:schemeClr>
                  </a:gs>
                  <a:gs pos="100000">
                    <a:schemeClr val="accent4">
                      <a:lumMod val="60000"/>
                      <a:lumOff val="40000"/>
                      <a:alpha val="4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grpSp>
      <p:sp>
        <p:nvSpPr>
          <p:cNvPr id="73" name="燕尾形 72"/>
          <p:cNvSpPr/>
          <p:nvPr>
            <p:custDataLst>
              <p:tags r:id="rId23"/>
            </p:custDataLst>
          </p:nvPr>
        </p:nvSpPr>
        <p:spPr>
          <a:xfrm>
            <a:off x="5131117" y="3118968"/>
            <a:ext cx="6399531" cy="711148"/>
          </a:xfrm>
          <a:prstGeom prst="chevron">
            <a:avLst/>
          </a:prstGeom>
          <a:gradFill>
            <a:gsLst>
              <a:gs pos="0">
                <a:schemeClr val="accent2">
                  <a:lumMod val="40000"/>
                  <a:lumOff val="60000"/>
                  <a:alpha val="13000"/>
                </a:schemeClr>
              </a:gs>
              <a:gs pos="100000">
                <a:schemeClr val="accent2">
                  <a:lumMod val="60000"/>
                  <a:lumOff val="40000"/>
                  <a:alpha val="50000"/>
                </a:schemeClr>
              </a:gs>
            </a:gsLst>
            <a:lin ang="0" scaled="0"/>
          </a:gradFill>
          <a:ln>
            <a:noFill/>
          </a:ln>
          <a:effectLst>
            <a:outerShdw blurRad="177800" dist="63500" dir="8100000" algn="tr" rotWithShape="0">
              <a:schemeClr val="accent2">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cs typeface="思源黑体 CN Regular" panose="020B0500000000000000" charset="-122"/>
              <a:sym typeface="+mn-ea"/>
            </a:endParaRPr>
          </a:p>
        </p:txBody>
      </p:sp>
      <p:sp>
        <p:nvSpPr>
          <p:cNvPr id="74" name="燕尾形 73"/>
          <p:cNvSpPr/>
          <p:nvPr>
            <p:custDataLst>
              <p:tags r:id="rId24"/>
            </p:custDataLst>
          </p:nvPr>
        </p:nvSpPr>
        <p:spPr>
          <a:xfrm>
            <a:off x="5626735" y="3233420"/>
            <a:ext cx="2748915" cy="483235"/>
          </a:xfrm>
          <a:prstGeom prst="chevron">
            <a:avLst/>
          </a:prstGeom>
          <a:gradFill>
            <a:gsLst>
              <a:gs pos="0">
                <a:schemeClr val="accent2">
                  <a:lumMod val="55000"/>
                  <a:lumOff val="45000"/>
                  <a:alpha val="100000"/>
                </a:schemeClr>
              </a:gs>
              <a:gs pos="100000">
                <a:schemeClr val="accent2">
                  <a:alpha val="100000"/>
                </a:schemeClr>
              </a:gs>
            </a:gsLst>
            <a:lin ang="0" scaled="0"/>
          </a:gradFill>
          <a:ln>
            <a:noFill/>
          </a:ln>
          <a:effectLst>
            <a:outerShdw blurRad="152400" dist="88900" dir="8100000" algn="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b="1" cap="all" dirty="0">
                <a:solidFill>
                  <a:srgbClr val="FFFFFF"/>
                </a:solidFill>
                <a:uFillTx/>
                <a:latin typeface="+mn-ea"/>
                <a:cs typeface="+mn-ea"/>
                <a:sym typeface="+mn-ea"/>
              </a:rPr>
              <a:t>识别手写文字并结构化输出</a:t>
            </a:r>
            <a:endParaRPr lang="zh-CN" altLang="en-US" sz="2000" b="1" cap="all" dirty="0">
              <a:solidFill>
                <a:srgbClr val="FFFFFF"/>
              </a:solidFill>
              <a:uFillTx/>
              <a:latin typeface="+mn-ea"/>
              <a:cs typeface="+mn-ea"/>
              <a:sym typeface="+mn-ea"/>
            </a:endParaRPr>
          </a:p>
        </p:txBody>
      </p:sp>
      <p:sp>
        <p:nvSpPr>
          <p:cNvPr id="75" name="燕尾形 74"/>
          <p:cNvSpPr/>
          <p:nvPr>
            <p:custDataLst>
              <p:tags r:id="rId25"/>
            </p:custDataLst>
          </p:nvPr>
        </p:nvSpPr>
        <p:spPr>
          <a:xfrm>
            <a:off x="8872904" y="3250335"/>
            <a:ext cx="1892255" cy="483505"/>
          </a:xfrm>
          <a:prstGeom prst="chevron">
            <a:avLst/>
          </a:prstGeom>
          <a:gradFill>
            <a:gsLst>
              <a:gs pos="0">
                <a:schemeClr val="accent2">
                  <a:lumMod val="85000"/>
                  <a:lumOff val="15000"/>
                  <a:alpha val="100000"/>
                </a:schemeClr>
              </a:gs>
              <a:gs pos="100000">
                <a:schemeClr val="accent2">
                  <a:lumMod val="90000"/>
                  <a:alpha val="100000"/>
                </a:schemeClr>
              </a:gs>
            </a:gsLst>
            <a:lin ang="0" scaled="0"/>
          </a:gradFill>
          <a:ln>
            <a:noFill/>
          </a:ln>
          <a:effectLst>
            <a:outerShdw blurRad="152400" dist="88900" dir="8100000" algn="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cap="all" dirty="0">
                <a:solidFill>
                  <a:srgbClr val="FFFFFF"/>
                </a:solidFill>
                <a:uFillTx/>
                <a:latin typeface="+mn-ea"/>
                <a:cs typeface="+mn-ea"/>
                <a:sym typeface="+mn-ea"/>
              </a:rPr>
              <a:t>dl + ocR</a:t>
            </a:r>
            <a:endParaRPr lang="en-US" altLang="zh-CN" sz="1400" cap="all" dirty="0">
              <a:solidFill>
                <a:srgbClr val="FFFFFF"/>
              </a:solidFill>
              <a:uFillTx/>
              <a:latin typeface="+mn-ea"/>
              <a:cs typeface="+mn-ea"/>
              <a:sym typeface="+mn-ea"/>
            </a:endParaRPr>
          </a:p>
        </p:txBody>
      </p:sp>
      <p:cxnSp>
        <p:nvCxnSpPr>
          <p:cNvPr id="76" name="直接连接符 75"/>
          <p:cNvCxnSpPr/>
          <p:nvPr>
            <p:custDataLst>
              <p:tags r:id="rId26"/>
            </p:custDataLst>
          </p:nvPr>
        </p:nvCxnSpPr>
        <p:spPr>
          <a:xfrm>
            <a:off x="6154568" y="3883006"/>
            <a:ext cx="4765443" cy="0"/>
          </a:xfrm>
          <a:prstGeom prst="line">
            <a:avLst/>
          </a:prstGeom>
          <a:ln w="9525">
            <a:gradFill>
              <a:gsLst>
                <a:gs pos="0">
                  <a:schemeClr val="accent2">
                    <a:lumMod val="20000"/>
                    <a:lumOff val="80000"/>
                    <a:alpha val="0"/>
                  </a:schemeClr>
                </a:gs>
                <a:gs pos="100000">
                  <a:schemeClr val="accent2">
                    <a:lumMod val="60000"/>
                    <a:lumOff val="40000"/>
                    <a:alpha val="4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custDataLst>
              <p:tags r:id="rId27"/>
            </p:custDataLst>
          </p:nvPr>
        </p:nvCxnSpPr>
        <p:spPr>
          <a:xfrm>
            <a:off x="5525447" y="3102249"/>
            <a:ext cx="5192132" cy="0"/>
          </a:xfrm>
          <a:prstGeom prst="line">
            <a:avLst/>
          </a:prstGeom>
          <a:ln w="9525">
            <a:gradFill>
              <a:gsLst>
                <a:gs pos="0">
                  <a:schemeClr val="accent2">
                    <a:lumMod val="20000"/>
                    <a:lumOff val="80000"/>
                    <a:alpha val="0"/>
                  </a:schemeClr>
                </a:gs>
                <a:gs pos="100000">
                  <a:schemeClr val="accent2">
                    <a:lumMod val="60000"/>
                    <a:lumOff val="40000"/>
                    <a:alpha val="4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grpSp>
        <p:nvGrpSpPr>
          <p:cNvPr id="101" name="组合 100"/>
          <p:cNvGrpSpPr/>
          <p:nvPr/>
        </p:nvGrpSpPr>
        <p:grpSpPr>
          <a:xfrm>
            <a:off x="5182870" y="3890645"/>
            <a:ext cx="6308090" cy="820420"/>
            <a:chOff x="8131" y="3403"/>
            <a:chExt cx="9934" cy="1292"/>
          </a:xfrm>
        </p:grpSpPr>
        <p:cxnSp>
          <p:nvCxnSpPr>
            <p:cNvPr id="102" name="直接连接符 101"/>
            <p:cNvCxnSpPr/>
            <p:nvPr>
              <p:custDataLst>
                <p:tags r:id="rId28"/>
              </p:custDataLst>
            </p:nvPr>
          </p:nvCxnSpPr>
          <p:spPr>
            <a:xfrm>
              <a:off x="9718" y="3403"/>
              <a:ext cx="7309" cy="0"/>
            </a:xfrm>
            <a:prstGeom prst="line">
              <a:avLst/>
            </a:prstGeom>
            <a:ln w="9525">
              <a:gradFill>
                <a:gsLst>
                  <a:gs pos="0">
                    <a:schemeClr val="accent2">
                      <a:lumMod val="20000"/>
                      <a:lumOff val="80000"/>
                      <a:alpha val="0"/>
                    </a:schemeClr>
                  </a:gs>
                  <a:gs pos="100000">
                    <a:schemeClr val="accent2">
                      <a:lumMod val="60000"/>
                      <a:lumOff val="40000"/>
                      <a:alpha val="4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sp>
          <p:nvSpPr>
            <p:cNvPr id="103" name="燕尾形 102"/>
            <p:cNvSpPr/>
            <p:nvPr>
              <p:custDataLst>
                <p:tags r:id="rId29"/>
              </p:custDataLst>
            </p:nvPr>
          </p:nvSpPr>
          <p:spPr>
            <a:xfrm>
              <a:off x="8131" y="3536"/>
              <a:ext cx="9934" cy="1104"/>
            </a:xfrm>
            <a:prstGeom prst="chevron">
              <a:avLst/>
            </a:prstGeom>
            <a:gradFill>
              <a:gsLst>
                <a:gs pos="0">
                  <a:schemeClr val="accent4">
                    <a:lumMod val="40000"/>
                    <a:lumOff val="60000"/>
                    <a:alpha val="13000"/>
                  </a:schemeClr>
                </a:gs>
                <a:gs pos="100000">
                  <a:schemeClr val="accent4">
                    <a:lumMod val="60000"/>
                    <a:lumOff val="40000"/>
                    <a:alpha val="50000"/>
                  </a:schemeClr>
                </a:gs>
              </a:gsLst>
              <a:lin ang="0" scaled="0"/>
            </a:gradFill>
            <a:ln>
              <a:noFill/>
            </a:ln>
            <a:effectLst>
              <a:outerShdw blurRad="177800" dist="63500" dir="8100000" algn="tr" rotWithShape="0">
                <a:schemeClr val="accent4">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cs typeface="思源黑体 CN Regular" panose="020B0500000000000000" charset="-122"/>
                <a:sym typeface="+mn-ea"/>
              </a:endParaRPr>
            </a:p>
          </p:txBody>
        </p:sp>
        <p:sp>
          <p:nvSpPr>
            <p:cNvPr id="104" name="燕尾形 103"/>
            <p:cNvSpPr/>
            <p:nvPr>
              <p:custDataLst>
                <p:tags r:id="rId30"/>
              </p:custDataLst>
            </p:nvPr>
          </p:nvSpPr>
          <p:spPr>
            <a:xfrm>
              <a:off x="8860" y="3714"/>
              <a:ext cx="4404" cy="751"/>
            </a:xfrm>
            <a:prstGeom prst="chevron">
              <a:avLst/>
            </a:prstGeom>
            <a:gradFill>
              <a:gsLst>
                <a:gs pos="0">
                  <a:schemeClr val="accent4">
                    <a:lumMod val="55000"/>
                    <a:lumOff val="45000"/>
                    <a:alpha val="100000"/>
                  </a:schemeClr>
                </a:gs>
                <a:gs pos="100000">
                  <a:schemeClr val="accent4">
                    <a:alpha val="100000"/>
                  </a:schemeClr>
                </a:gs>
              </a:gsLst>
              <a:lin ang="0" scaled="0"/>
            </a:gradFill>
            <a:ln>
              <a:noFill/>
            </a:ln>
            <a:effectLst>
              <a:outerShdw blurRad="152400" dist="88900" dir="8100000" algn="tr"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b="1" cap="all" dirty="0">
                  <a:solidFill>
                    <a:srgbClr val="FFFFFF"/>
                  </a:solidFill>
                  <a:uFillTx/>
                  <a:latin typeface="+mn-ea"/>
                  <a:cs typeface="+mn-ea"/>
                  <a:sym typeface="+mn-ea"/>
                </a:rPr>
                <a:t>精确与模糊匹配、计算得分</a:t>
              </a:r>
              <a:endParaRPr lang="zh-CN" altLang="en-US" sz="1400" b="1" cap="all" dirty="0">
                <a:solidFill>
                  <a:srgbClr val="FFFFFF"/>
                </a:solidFill>
                <a:uFillTx/>
                <a:latin typeface="+mn-ea"/>
                <a:cs typeface="+mn-ea"/>
                <a:sym typeface="+mn-ea"/>
              </a:endParaRPr>
            </a:p>
          </p:txBody>
        </p:sp>
        <p:sp>
          <p:nvSpPr>
            <p:cNvPr id="105" name="燕尾形 104"/>
            <p:cNvSpPr/>
            <p:nvPr>
              <p:custDataLst>
                <p:tags r:id="rId31"/>
              </p:custDataLst>
            </p:nvPr>
          </p:nvSpPr>
          <p:spPr>
            <a:xfrm>
              <a:off x="13721" y="3713"/>
              <a:ext cx="3202" cy="751"/>
            </a:xfrm>
            <a:prstGeom prst="chevron">
              <a:avLst/>
            </a:prstGeom>
            <a:solidFill>
              <a:srgbClr val="60647F"/>
            </a:solidFill>
            <a:ln>
              <a:noFill/>
            </a:ln>
            <a:effectLst>
              <a:outerShdw blurRad="152400" dist="88900" dir="8100000" algn="tr"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cap="all" dirty="0">
                  <a:solidFill>
                    <a:srgbClr val="FFFFFF"/>
                  </a:solidFill>
                  <a:uFillTx/>
                  <a:latin typeface="+mn-ea"/>
                  <a:cs typeface="+mn-ea"/>
                  <a:sym typeface="+mn-ea"/>
                </a:rPr>
                <a:t>规则导入与逻辑判断</a:t>
              </a:r>
              <a:endParaRPr lang="zh-CN" altLang="en-US" sz="1400" cap="all" dirty="0">
                <a:solidFill>
                  <a:srgbClr val="FFFFFF"/>
                </a:solidFill>
                <a:uFillTx/>
                <a:latin typeface="+mn-ea"/>
                <a:cs typeface="+mn-ea"/>
                <a:sym typeface="+mn-ea"/>
              </a:endParaRPr>
            </a:p>
          </p:txBody>
        </p:sp>
        <p:cxnSp>
          <p:nvCxnSpPr>
            <p:cNvPr id="106" name="直接连接符 105"/>
            <p:cNvCxnSpPr/>
            <p:nvPr>
              <p:custDataLst>
                <p:tags r:id="rId32"/>
              </p:custDataLst>
            </p:nvPr>
          </p:nvCxnSpPr>
          <p:spPr>
            <a:xfrm>
              <a:off x="9719" y="4695"/>
              <a:ext cx="7398" cy="0"/>
            </a:xfrm>
            <a:prstGeom prst="line">
              <a:avLst/>
            </a:prstGeom>
            <a:ln w="9525">
              <a:gradFill>
                <a:gsLst>
                  <a:gs pos="0">
                    <a:schemeClr val="accent4">
                      <a:lumMod val="20000"/>
                      <a:lumOff val="80000"/>
                      <a:alpha val="0"/>
                    </a:schemeClr>
                  </a:gs>
                  <a:gs pos="100000">
                    <a:schemeClr val="accent4">
                      <a:lumMod val="60000"/>
                      <a:lumOff val="40000"/>
                      <a:alpha val="40000"/>
                    </a:schemeClr>
                  </a:gs>
                </a:gsLst>
                <a:lin ang="0" scaled="1"/>
              </a:gradFill>
              <a:tailEnd type="none"/>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custDataLst>
                <p:tags r:id="rId33"/>
              </p:custDataLst>
            </p:nvPr>
          </p:nvCxnSpPr>
          <p:spPr>
            <a:xfrm>
              <a:off x="8743" y="3483"/>
              <a:ext cx="8060" cy="0"/>
            </a:xfrm>
            <a:prstGeom prst="line">
              <a:avLst/>
            </a:prstGeom>
            <a:ln w="9525">
              <a:gradFill>
                <a:gsLst>
                  <a:gs pos="0">
                    <a:schemeClr val="accent4">
                      <a:lumMod val="20000"/>
                      <a:lumOff val="80000"/>
                      <a:alpha val="0"/>
                    </a:schemeClr>
                  </a:gs>
                  <a:gs pos="100000">
                    <a:schemeClr val="accent4">
                      <a:lumMod val="60000"/>
                      <a:lumOff val="40000"/>
                      <a:alpha val="4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grpSp>
      <p:sp>
        <p:nvSpPr>
          <p:cNvPr id="114" name="矩形 113"/>
          <p:cNvSpPr/>
          <p:nvPr>
            <p:custDataLst>
              <p:tags r:id="rId34"/>
            </p:custDataLst>
          </p:nvPr>
        </p:nvSpPr>
        <p:spPr>
          <a:xfrm>
            <a:off x="5673345" y="5060736"/>
            <a:ext cx="1148020" cy="790154"/>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65000"/>
                    <a:lumOff val="35000"/>
                  </a:schemeClr>
                </a:solidFill>
                <a:latin typeface="+mn-ea"/>
                <a:cs typeface="+mn-ea"/>
                <a:sym typeface="+mn-ea"/>
              </a:rPr>
              <a:t>保存原始图像和导出文件</a:t>
            </a:r>
            <a:endParaRPr lang="zh-CN" altLang="en-US" sz="1400">
              <a:solidFill>
                <a:schemeClr val="tx1">
                  <a:lumMod val="65000"/>
                  <a:lumOff val="35000"/>
                </a:schemeClr>
              </a:solidFill>
              <a:latin typeface="+mn-ea"/>
              <a:cs typeface="+mn-ea"/>
            </a:endParaRPr>
          </a:p>
        </p:txBody>
      </p:sp>
      <p:sp>
        <p:nvSpPr>
          <p:cNvPr id="115" name="1"/>
          <p:cNvSpPr/>
          <p:nvPr>
            <p:custDataLst>
              <p:tags r:id="rId35"/>
            </p:custDataLst>
          </p:nvPr>
        </p:nvSpPr>
        <p:spPr>
          <a:xfrm>
            <a:off x="7522176" y="4748398"/>
            <a:ext cx="596574" cy="899018"/>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2">
                  <a:lumMod val="50000"/>
                  <a:lumOff val="50000"/>
                  <a:alpha val="100000"/>
                </a:schemeClr>
              </a:gs>
              <a:gs pos="23000">
                <a:schemeClr val="accent2">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16" name="2"/>
          <p:cNvSpPr/>
          <p:nvPr>
            <p:custDataLst>
              <p:tags r:id="rId36"/>
            </p:custDataLst>
          </p:nvPr>
        </p:nvSpPr>
        <p:spPr>
          <a:xfrm>
            <a:off x="7023777" y="4749586"/>
            <a:ext cx="1367727" cy="1101307"/>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2">
                  <a:lumMod val="80000"/>
                  <a:lumOff val="20000"/>
                  <a:alpha val="100000"/>
                </a:schemeClr>
              </a:gs>
              <a:gs pos="0">
                <a:schemeClr val="accent2">
                  <a:lumMod val="20000"/>
                  <a:lumOff val="80000"/>
                  <a:alpha val="100000"/>
                </a:schemeClr>
              </a:gs>
              <a:gs pos="0">
                <a:schemeClr val="accent2">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17" name="1"/>
          <p:cNvSpPr/>
          <p:nvPr>
            <p:custDataLst>
              <p:tags r:id="rId37"/>
            </p:custDataLst>
          </p:nvPr>
        </p:nvSpPr>
        <p:spPr>
          <a:xfrm>
            <a:off x="8826169" y="4753941"/>
            <a:ext cx="596574" cy="899018"/>
          </a:xfrm>
          <a:custGeom>
            <a:avLst/>
            <a:gdLst/>
            <a:ahLst/>
            <a:cxnLst>
              <a:cxn ang="3">
                <a:pos x="hc" y="t"/>
              </a:cxn>
              <a:cxn ang="cd2">
                <a:pos x="l" y="vc"/>
              </a:cxn>
              <a:cxn ang="cd4">
                <a:pos x="hc" y="b"/>
              </a:cxn>
              <a:cxn ang="0">
                <a:pos x="r" y="vc"/>
              </a:cxn>
            </a:cxnLst>
            <a:rect l="l" t="t" r="r" b="b"/>
            <a:pathLst>
              <a:path w="1264" h="1905">
                <a:moveTo>
                  <a:pt x="97" y="0"/>
                </a:moveTo>
                <a:cubicBezTo>
                  <a:pt x="741" y="0"/>
                  <a:pt x="1264" y="523"/>
                  <a:pt x="1264" y="1173"/>
                </a:cubicBezTo>
                <a:cubicBezTo>
                  <a:pt x="1264" y="1442"/>
                  <a:pt x="1176" y="1695"/>
                  <a:pt x="1012" y="1905"/>
                </a:cubicBezTo>
                <a:cubicBezTo>
                  <a:pt x="1012" y="1905"/>
                  <a:pt x="1012" y="1905"/>
                  <a:pt x="460" y="1905"/>
                </a:cubicBezTo>
                <a:cubicBezTo>
                  <a:pt x="731" y="1773"/>
                  <a:pt x="917" y="1492"/>
                  <a:pt x="917" y="1173"/>
                </a:cubicBezTo>
                <a:cubicBezTo>
                  <a:pt x="917" y="721"/>
                  <a:pt x="548" y="352"/>
                  <a:pt x="97" y="352"/>
                </a:cubicBezTo>
                <a:cubicBezTo>
                  <a:pt x="69" y="352"/>
                  <a:pt x="41" y="354"/>
                  <a:pt x="13" y="357"/>
                </a:cubicBezTo>
                <a:lnTo>
                  <a:pt x="0" y="358"/>
                </a:lnTo>
                <a:lnTo>
                  <a:pt x="0" y="4"/>
                </a:lnTo>
                <a:lnTo>
                  <a:pt x="14" y="3"/>
                </a:lnTo>
                <a:cubicBezTo>
                  <a:pt x="42" y="1"/>
                  <a:pt x="69" y="0"/>
                  <a:pt x="97" y="0"/>
                </a:cubicBezTo>
                <a:close/>
              </a:path>
            </a:pathLst>
          </a:custGeom>
          <a:gradFill>
            <a:gsLst>
              <a:gs pos="100000">
                <a:schemeClr val="accent2">
                  <a:lumMod val="50000"/>
                  <a:lumOff val="50000"/>
                  <a:alpha val="100000"/>
                </a:schemeClr>
              </a:gs>
              <a:gs pos="25000">
                <a:schemeClr val="accent2">
                  <a:lumMod val="80000"/>
                  <a:lumOff val="20000"/>
                  <a:alpha val="10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18" name="2"/>
          <p:cNvSpPr/>
          <p:nvPr>
            <p:custDataLst>
              <p:tags r:id="rId38"/>
            </p:custDataLst>
          </p:nvPr>
        </p:nvSpPr>
        <p:spPr>
          <a:xfrm>
            <a:off x="8327770" y="4755128"/>
            <a:ext cx="1367727" cy="1101307"/>
          </a:xfrm>
          <a:custGeom>
            <a:avLst/>
            <a:gdLst/>
            <a:ahLst/>
            <a:cxnLst>
              <a:cxn ang="3">
                <a:pos x="hc" y="t"/>
              </a:cxn>
              <a:cxn ang="cd2">
                <a:pos x="l" y="vc"/>
              </a:cxn>
              <a:cxn ang="cd4">
                <a:pos x="hc" y="b"/>
              </a:cxn>
              <a:cxn ang="0">
                <a:pos x="r" y="vc"/>
              </a:cxn>
            </a:cxnLst>
            <a:rect l="l" t="t" r="r" b="b"/>
            <a:pathLst>
              <a:path w="3410" h="2745">
                <a:moveTo>
                  <a:pt x="1259" y="0"/>
                </a:moveTo>
                <a:lnTo>
                  <a:pt x="1259" y="417"/>
                </a:lnTo>
                <a:lnTo>
                  <a:pt x="1251" y="418"/>
                </a:lnTo>
                <a:cubicBezTo>
                  <a:pt x="777" y="478"/>
                  <a:pt x="407" y="885"/>
                  <a:pt x="407" y="1375"/>
                </a:cubicBezTo>
                <a:cubicBezTo>
                  <a:pt x="407" y="1906"/>
                  <a:pt x="841" y="2333"/>
                  <a:pt x="1373" y="2333"/>
                </a:cubicBezTo>
                <a:cubicBezTo>
                  <a:pt x="1373" y="2333"/>
                  <a:pt x="1373" y="2333"/>
                  <a:pt x="1693" y="2334"/>
                </a:cubicBezTo>
                <a:lnTo>
                  <a:pt x="1698" y="2334"/>
                </a:lnTo>
                <a:lnTo>
                  <a:pt x="2078" y="2334"/>
                </a:lnTo>
                <a:lnTo>
                  <a:pt x="2504" y="2334"/>
                </a:lnTo>
                <a:lnTo>
                  <a:pt x="2525" y="2334"/>
                </a:lnTo>
                <a:lnTo>
                  <a:pt x="2535" y="2334"/>
                </a:lnTo>
                <a:lnTo>
                  <a:pt x="2650" y="2334"/>
                </a:lnTo>
                <a:lnTo>
                  <a:pt x="2760" y="2334"/>
                </a:lnTo>
                <a:lnTo>
                  <a:pt x="2893" y="2334"/>
                </a:lnTo>
                <a:lnTo>
                  <a:pt x="2902" y="2345"/>
                </a:lnTo>
                <a:cubicBezTo>
                  <a:pt x="3033" y="2505"/>
                  <a:pt x="3199" y="2638"/>
                  <a:pt x="3386" y="2733"/>
                </a:cubicBezTo>
                <a:lnTo>
                  <a:pt x="3410" y="2745"/>
                </a:lnTo>
                <a:lnTo>
                  <a:pt x="2760" y="2745"/>
                </a:lnTo>
                <a:lnTo>
                  <a:pt x="2650" y="2745"/>
                </a:lnTo>
                <a:lnTo>
                  <a:pt x="2535" y="2745"/>
                </a:lnTo>
                <a:lnTo>
                  <a:pt x="2525" y="2745"/>
                </a:lnTo>
                <a:lnTo>
                  <a:pt x="2504" y="2745"/>
                </a:lnTo>
                <a:lnTo>
                  <a:pt x="2078" y="2745"/>
                </a:lnTo>
                <a:lnTo>
                  <a:pt x="1439" y="2745"/>
                </a:lnTo>
                <a:lnTo>
                  <a:pt x="1435" y="2745"/>
                </a:lnTo>
                <a:lnTo>
                  <a:pt x="1325" y="2745"/>
                </a:lnTo>
                <a:lnTo>
                  <a:pt x="1288" y="2745"/>
                </a:lnTo>
                <a:lnTo>
                  <a:pt x="1288" y="2743"/>
                </a:lnTo>
                <a:lnTo>
                  <a:pt x="1277" y="2743"/>
                </a:lnTo>
                <a:cubicBezTo>
                  <a:pt x="562" y="2689"/>
                  <a:pt x="0" y="2092"/>
                  <a:pt x="0" y="1364"/>
                </a:cubicBezTo>
                <a:cubicBezTo>
                  <a:pt x="0" y="1328"/>
                  <a:pt x="1" y="1292"/>
                  <a:pt x="4" y="1258"/>
                </a:cubicBezTo>
                <a:lnTo>
                  <a:pt x="7" y="1224"/>
                </a:lnTo>
                <a:lnTo>
                  <a:pt x="9" y="1199"/>
                </a:lnTo>
                <a:cubicBezTo>
                  <a:pt x="91" y="561"/>
                  <a:pt x="604" y="61"/>
                  <a:pt x="1244" y="1"/>
                </a:cubicBezTo>
                <a:lnTo>
                  <a:pt x="1259" y="0"/>
                </a:lnTo>
                <a:close/>
              </a:path>
            </a:pathLst>
          </a:custGeom>
          <a:gradFill>
            <a:gsLst>
              <a:gs pos="70000">
                <a:schemeClr val="accent2">
                  <a:lumMod val="80000"/>
                  <a:lumOff val="20000"/>
                  <a:alpha val="100000"/>
                </a:schemeClr>
              </a:gs>
              <a:gs pos="0">
                <a:schemeClr val="accent2">
                  <a:lumMod val="20000"/>
                  <a:lumOff val="80000"/>
                  <a:alpha val="100000"/>
                </a:schemeClr>
              </a:gs>
              <a:gs pos="0">
                <a:schemeClr val="accent2">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19" name="矩形 118"/>
          <p:cNvSpPr/>
          <p:nvPr>
            <p:custDataLst>
              <p:tags r:id="rId39"/>
            </p:custDataLst>
          </p:nvPr>
        </p:nvSpPr>
        <p:spPr>
          <a:xfrm>
            <a:off x="9813925" y="5024120"/>
            <a:ext cx="1462405" cy="789940"/>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65000"/>
                    <a:lumOff val="35000"/>
                  </a:schemeClr>
                </a:solidFill>
                <a:latin typeface="+mn-ea"/>
                <a:cs typeface="+mn-ea"/>
              </a:rPr>
              <a:t>存储用户信息、作业数据和结果记录</a:t>
            </a:r>
            <a:endParaRPr lang="zh-CN" altLang="en-US" sz="1400">
              <a:solidFill>
                <a:schemeClr val="tx1">
                  <a:lumMod val="65000"/>
                  <a:lumOff val="35000"/>
                </a:schemeClr>
              </a:solidFill>
              <a:latin typeface="+mn-ea"/>
              <a:cs typeface="+mn-ea"/>
            </a:endParaRPr>
          </a:p>
        </p:txBody>
      </p:sp>
      <p:pic>
        <p:nvPicPr>
          <p:cNvPr id="121" name="图片 8" descr="343435383038363b343532323339303bbacfcdacc7a9caf0"/>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tretch>
            <a:fillRect/>
          </a:stretch>
        </p:blipFill>
        <p:spPr>
          <a:xfrm>
            <a:off x="7461608" y="5177916"/>
            <a:ext cx="291759" cy="291759"/>
          </a:xfrm>
          <a:prstGeom prst="rect">
            <a:avLst/>
          </a:prstGeom>
        </p:spPr>
      </p:pic>
      <p:pic>
        <p:nvPicPr>
          <p:cNvPr id="124" name="图片 123" descr="数据库"/>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8670290" y="5081905"/>
            <a:ext cx="424180" cy="424180"/>
          </a:xfrm>
          <a:prstGeom prst="rect">
            <a:avLst/>
          </a:prstGeom>
        </p:spPr>
      </p:pic>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梯形 34"/>
          <p:cNvSpPr/>
          <p:nvPr/>
        </p:nvSpPr>
        <p:spPr>
          <a:xfrm rot="16200000">
            <a:off x="7446198" y="-451317"/>
            <a:ext cx="2291737" cy="7199871"/>
          </a:xfrm>
          <a:prstGeom prst="trapezoid">
            <a:avLst>
              <a:gd name="adj" fmla="val 1693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7" name="梯形 36"/>
          <p:cNvSpPr/>
          <p:nvPr/>
        </p:nvSpPr>
        <p:spPr>
          <a:xfrm rot="5400000">
            <a:off x="1331640" y="636804"/>
            <a:ext cx="2344067" cy="5007345"/>
          </a:xfrm>
          <a:prstGeom prst="trapezoid">
            <a:avLst>
              <a:gd name="adj" fmla="val 17865"/>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7" name="文本框 2"/>
          <p:cNvSpPr txBox="1"/>
          <p:nvPr/>
        </p:nvSpPr>
        <p:spPr>
          <a:xfrm>
            <a:off x="3729079" y="2556165"/>
            <a:ext cx="1164101" cy="1200329"/>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Part</a:t>
            </a:r>
            <a:r>
              <a:rPr kumimoji="0" lang="en-US" altLang="zh-CN"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a:t>
            </a:r>
            <a:endParaRPr kumimoji="0" lang="zh-CN" altLang="en-US" sz="72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矩形 28"/>
          <p:cNvSpPr/>
          <p:nvPr/>
        </p:nvSpPr>
        <p:spPr>
          <a:xfrm>
            <a:off x="5467348" y="2692405"/>
            <a:ext cx="3840480" cy="829945"/>
          </a:xfrm>
          <a:prstGeom prst="rect">
            <a:avLst/>
          </a:prstGeom>
        </p:spPr>
        <p:txBody>
          <a:bodyPr wrap="non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实践任务计划</a:t>
            </a:r>
            <a:endParaRPr kumimoji="0" lang="zh-CN" altLang="en-US" sz="48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31" name="组合 30"/>
          <p:cNvGrpSpPr/>
          <p:nvPr/>
        </p:nvGrpSpPr>
        <p:grpSpPr>
          <a:xfrm rot="0">
            <a:off x="9441815" y="2528570"/>
            <a:ext cx="1542415" cy="1156970"/>
            <a:chOff x="9140243" y="2649839"/>
            <a:chExt cx="1542415" cy="1157230"/>
          </a:xfrm>
        </p:grpSpPr>
        <p:sp>
          <p:nvSpPr>
            <p:cNvPr id="32" name="矩形 31"/>
            <p:cNvSpPr/>
            <p:nvPr/>
          </p:nvSpPr>
          <p:spPr>
            <a:xfrm>
              <a:off x="9140243" y="2649839"/>
              <a:ext cx="1542415" cy="378460"/>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5-1 </a:t>
              </a:r>
              <a:r>
                <a:rPr kumimoji="1"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时间安排</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微软雅黑" panose="020B0503020204020204" pitchFamily="34" charset="-122"/>
              </a:endParaRPr>
            </a:p>
          </p:txBody>
        </p:sp>
        <p:sp>
          <p:nvSpPr>
            <p:cNvPr id="33" name="矩形 32"/>
            <p:cNvSpPr/>
            <p:nvPr/>
          </p:nvSpPr>
          <p:spPr>
            <a:xfrm>
              <a:off x="9140243" y="3037021"/>
              <a:ext cx="1542415" cy="37846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5-2 </a:t>
              </a:r>
              <a:r>
                <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项目分工</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34" name="矩形 33"/>
            <p:cNvSpPr/>
            <p:nvPr/>
          </p:nvSpPr>
          <p:spPr>
            <a:xfrm>
              <a:off x="9140243" y="3429000"/>
              <a:ext cx="1532862" cy="378069"/>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5-3 </a:t>
              </a:r>
              <a:r>
                <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预期成果</a:t>
              </a:r>
              <a:endParaRPr kumimoji="0" lang="zh-CN" altLang="en-US" sz="1865"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gr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335" y="1693102"/>
            <a:ext cx="3085201" cy="3062177"/>
          </a:xfrm>
          <a:prstGeom prst="rect">
            <a:avLst/>
          </a:prstGeom>
        </p:spPr>
      </p:pic>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7"/>
          <p:cNvSpPr>
            <a:spLocks noChangeArrowheads="1"/>
          </p:cNvSpPr>
          <p:nvPr/>
        </p:nvSpPr>
        <p:spPr bwMode="auto">
          <a:xfrm>
            <a:off x="1" y="5286510"/>
            <a:ext cx="9551140" cy="850649"/>
          </a:xfrm>
          <a:prstGeom prst="rect">
            <a:avLst/>
          </a:prstGeom>
          <a:solidFill>
            <a:schemeClr val="bg1">
              <a:lumMod val="75000"/>
            </a:schemeClr>
          </a:solidFill>
          <a:ln w="9525">
            <a:noFill/>
            <a:miter lim="800000"/>
          </a:ln>
        </p:spPr>
        <p:txBody>
          <a:bodyPr wrap="none" lIns="89477" tIns="44739" rIns="89477" bIns="44739"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39" name="Line 43"/>
          <p:cNvSpPr>
            <a:spLocks noChangeShapeType="1"/>
          </p:cNvSpPr>
          <p:nvPr/>
        </p:nvSpPr>
        <p:spPr bwMode="auto">
          <a:xfrm rot="5400000">
            <a:off x="4377575" y="2176393"/>
            <a:ext cx="0" cy="7358907"/>
          </a:xfrm>
          <a:prstGeom prst="line">
            <a:avLst/>
          </a:prstGeom>
          <a:noFill/>
          <a:ln w="28575">
            <a:solidFill>
              <a:schemeClr val="bg1">
                <a:lumMod val="50000"/>
              </a:schemeClr>
            </a:solidFill>
            <a:prstDash val="lgDash"/>
            <a:round/>
            <a:tailEnd type="triangle" w="lg" len="lg"/>
          </a:ln>
          <a:extLst>
            <a:ext uri="{909E8E84-426E-40DD-AFC4-6F175D3DCCD1}">
              <a14:hiddenFill xmlns:a14="http://schemas.microsoft.com/office/drawing/2010/main">
                <a:noFill/>
              </a14:hiddenFill>
            </a:ext>
          </a:extLst>
        </p:spPr>
        <p:txBody>
          <a:bodyPr lIns="89477" tIns="44739" rIns="89477" bIns="44739"/>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0" name="Rectangle 6"/>
          <p:cNvSpPr>
            <a:spLocks noChangeArrowheads="1"/>
          </p:cNvSpPr>
          <p:nvPr/>
        </p:nvSpPr>
        <p:spPr bwMode="auto">
          <a:xfrm>
            <a:off x="3699505" y="3445013"/>
            <a:ext cx="5851635" cy="845185"/>
          </a:xfrm>
          <a:prstGeom prst="rect">
            <a:avLst/>
          </a:prstGeom>
          <a:solidFill>
            <a:schemeClr val="bg1">
              <a:lumMod val="75000"/>
            </a:schemeClr>
          </a:solidFill>
          <a:ln w="9525">
            <a:noFill/>
            <a:miter lim="800000"/>
          </a:ln>
        </p:spPr>
        <p:txBody>
          <a:bodyPr wrap="none" lIns="89477" tIns="44739" rIns="89477" bIns="44739"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1" name="Line 43"/>
          <p:cNvSpPr>
            <a:spLocks noChangeShapeType="1"/>
          </p:cNvSpPr>
          <p:nvPr/>
        </p:nvSpPr>
        <p:spPr bwMode="auto">
          <a:xfrm rot="16200000" flipH="1">
            <a:off x="6525576" y="2299373"/>
            <a:ext cx="0" cy="3368535"/>
          </a:xfrm>
          <a:prstGeom prst="line">
            <a:avLst/>
          </a:prstGeom>
          <a:noFill/>
          <a:ln w="28575">
            <a:solidFill>
              <a:schemeClr val="bg1">
                <a:lumMod val="50000"/>
              </a:schemeClr>
            </a:solidFill>
            <a:prstDash val="lgDash"/>
            <a:round/>
            <a:tailEnd type="triangle" w="lg" len="lg"/>
          </a:ln>
          <a:extLst>
            <a:ext uri="{909E8E84-426E-40DD-AFC4-6F175D3DCCD1}">
              <a14:hiddenFill xmlns:a14="http://schemas.microsoft.com/office/drawing/2010/main">
                <a:noFill/>
              </a14:hiddenFill>
            </a:ext>
          </a:extLst>
        </p:spPr>
        <p:txBody>
          <a:bodyPr lIns="89477" tIns="44739" rIns="89477" bIns="44739"/>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2" name="Rectangle 5"/>
          <p:cNvSpPr>
            <a:spLocks noChangeArrowheads="1"/>
          </p:cNvSpPr>
          <p:nvPr/>
        </p:nvSpPr>
        <p:spPr bwMode="auto">
          <a:xfrm rot="5400000">
            <a:off x="7969266" y="4590464"/>
            <a:ext cx="2326033" cy="841251"/>
          </a:xfrm>
          <a:prstGeom prst="rect">
            <a:avLst/>
          </a:prstGeom>
          <a:solidFill>
            <a:schemeClr val="bg1">
              <a:lumMod val="75000"/>
            </a:schemeClr>
          </a:solidFill>
          <a:ln w="9525">
            <a:noFill/>
            <a:miter lim="800000"/>
          </a:ln>
        </p:spPr>
        <p:txBody>
          <a:bodyPr wrap="none" lIns="89477" tIns="44739" rIns="89477" bIns="44739"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3" name="Line 44"/>
          <p:cNvSpPr>
            <a:spLocks noChangeShapeType="1"/>
          </p:cNvSpPr>
          <p:nvPr/>
        </p:nvSpPr>
        <p:spPr bwMode="auto">
          <a:xfrm>
            <a:off x="9149955" y="4572516"/>
            <a:ext cx="0" cy="403061"/>
          </a:xfrm>
          <a:prstGeom prst="line">
            <a:avLst/>
          </a:prstGeom>
          <a:noFill/>
          <a:ln w="28575">
            <a:solidFill>
              <a:schemeClr val="bg1">
                <a:lumMod val="50000"/>
              </a:schemeClr>
            </a:solidFill>
            <a:prstDash val="lgDash"/>
            <a:round/>
            <a:tailEnd type="triangle" w="lg" len="lg"/>
          </a:ln>
          <a:extLst>
            <a:ext uri="{909E8E84-426E-40DD-AFC4-6F175D3DCCD1}">
              <a14:hiddenFill xmlns:a14="http://schemas.microsoft.com/office/drawing/2010/main">
                <a:noFill/>
              </a14:hiddenFill>
            </a:ext>
          </a:extLst>
        </p:spPr>
        <p:txBody>
          <a:bodyPr lIns="89477" tIns="44739" rIns="89477" bIns="44739"/>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4" name="Rectangle 7"/>
          <p:cNvSpPr>
            <a:spLocks noChangeArrowheads="1"/>
          </p:cNvSpPr>
          <p:nvPr/>
        </p:nvSpPr>
        <p:spPr bwMode="auto">
          <a:xfrm>
            <a:off x="4180221" y="1672969"/>
            <a:ext cx="5370921" cy="850649"/>
          </a:xfrm>
          <a:prstGeom prst="rect">
            <a:avLst/>
          </a:prstGeom>
          <a:solidFill>
            <a:schemeClr val="bg1">
              <a:lumMod val="75000"/>
            </a:schemeClr>
          </a:solidFill>
          <a:ln w="9525">
            <a:noFill/>
            <a:miter lim="800000"/>
          </a:ln>
        </p:spPr>
        <p:txBody>
          <a:bodyPr wrap="none" lIns="89477" tIns="44739" rIns="89477" bIns="44739"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5" name="Line 43"/>
          <p:cNvSpPr>
            <a:spLocks noChangeShapeType="1"/>
          </p:cNvSpPr>
          <p:nvPr/>
        </p:nvSpPr>
        <p:spPr bwMode="auto">
          <a:xfrm rot="5400000">
            <a:off x="6372760" y="499173"/>
            <a:ext cx="0" cy="3368535"/>
          </a:xfrm>
          <a:prstGeom prst="line">
            <a:avLst/>
          </a:prstGeom>
          <a:noFill/>
          <a:ln w="28575">
            <a:solidFill>
              <a:schemeClr val="bg1">
                <a:lumMod val="50000"/>
              </a:schemeClr>
            </a:solidFill>
            <a:prstDash val="lgDash"/>
            <a:round/>
            <a:tailEnd type="triangle" w="lg" len="lg"/>
          </a:ln>
          <a:extLst>
            <a:ext uri="{909E8E84-426E-40DD-AFC4-6F175D3DCCD1}">
              <a14:hiddenFill xmlns:a14="http://schemas.microsoft.com/office/drawing/2010/main">
                <a:noFill/>
              </a14:hiddenFill>
            </a:ext>
          </a:extLst>
        </p:spPr>
        <p:txBody>
          <a:bodyPr lIns="89477" tIns="44739" rIns="89477" bIns="44739"/>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6" name="Rectangle 8"/>
          <p:cNvSpPr>
            <a:spLocks noChangeArrowheads="1"/>
          </p:cNvSpPr>
          <p:nvPr/>
        </p:nvSpPr>
        <p:spPr bwMode="auto">
          <a:xfrm rot="5400000">
            <a:off x="2489864" y="2560955"/>
            <a:ext cx="2617229" cy="841251"/>
          </a:xfrm>
          <a:prstGeom prst="rect">
            <a:avLst/>
          </a:prstGeom>
          <a:solidFill>
            <a:schemeClr val="bg1">
              <a:lumMod val="75000"/>
            </a:schemeClr>
          </a:solidFill>
          <a:ln w="9525">
            <a:noFill/>
            <a:miter lim="800000"/>
          </a:ln>
        </p:spPr>
        <p:txBody>
          <a:bodyPr wrap="none" lIns="89477" tIns="44739" rIns="89477" bIns="44739"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7" name="Line 42"/>
          <p:cNvSpPr>
            <a:spLocks noChangeShapeType="1"/>
          </p:cNvSpPr>
          <p:nvPr/>
        </p:nvSpPr>
        <p:spPr bwMode="auto">
          <a:xfrm>
            <a:off x="3779036" y="2749827"/>
            <a:ext cx="0" cy="453520"/>
          </a:xfrm>
          <a:prstGeom prst="line">
            <a:avLst/>
          </a:prstGeom>
          <a:noFill/>
          <a:ln w="28575">
            <a:solidFill>
              <a:schemeClr val="bg1">
                <a:lumMod val="50000"/>
              </a:schemeClr>
            </a:solidFill>
            <a:prstDash val="lgDash"/>
            <a:round/>
            <a:tailEnd type="triangle" w="lg" len="lg"/>
          </a:ln>
          <a:extLst>
            <a:ext uri="{909E8E84-426E-40DD-AFC4-6F175D3DCCD1}">
              <a14:hiddenFill xmlns:a14="http://schemas.microsoft.com/office/drawing/2010/main">
                <a:noFill/>
              </a14:hiddenFill>
            </a:ext>
          </a:extLst>
        </p:spPr>
        <p:txBody>
          <a:bodyPr lIns="89477" tIns="44739" rIns="89477" bIns="44739"/>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n-cs"/>
            </a:endParaRPr>
          </a:p>
        </p:txBody>
      </p:sp>
      <p:sp>
        <p:nvSpPr>
          <p:cNvPr id="48" name="Oval 38"/>
          <p:cNvSpPr>
            <a:spLocks noChangeArrowheads="1"/>
          </p:cNvSpPr>
          <p:nvPr/>
        </p:nvSpPr>
        <p:spPr bwMode="auto">
          <a:xfrm>
            <a:off x="8452225" y="1391351"/>
            <a:ext cx="1374464" cy="1358475"/>
          </a:xfrm>
          <a:prstGeom prst="ellipse">
            <a:avLst/>
          </a:prstGeom>
          <a:solidFill>
            <a:schemeClr val="accent2">
              <a:lumMod val="100000"/>
            </a:schemeClr>
          </a:solidFill>
          <a:ln w="19050">
            <a:noFill/>
            <a:round/>
          </a:ln>
        </p:spPr>
        <p:txBody>
          <a:bodyPr wrap="none" lIns="89477" tIns="44739" rIns="89477" bIns="44739"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筹备阶段</a:t>
            </a:r>
            <a:endPar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2" name="矩形 51"/>
          <p:cNvSpPr/>
          <p:nvPr/>
        </p:nvSpPr>
        <p:spPr>
          <a:xfrm>
            <a:off x="4714122" y="1786239"/>
            <a:ext cx="3550385" cy="334645"/>
          </a:xfrm>
          <a:prstGeom prst="rect">
            <a:avLst/>
          </a:prstGeom>
        </p:spPr>
        <p:txBody>
          <a:bodyPr wrap="square" lIns="89477" tIns="44739" rIns="89477" bIns="44739"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华文黑体" pitchFamily="2" charset="-122"/>
              </a:rPr>
              <a:t>分解任务、明确需求、设计原型</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53" name="Oval 38"/>
          <p:cNvSpPr>
            <a:spLocks noChangeArrowheads="1"/>
          </p:cNvSpPr>
          <p:nvPr/>
        </p:nvSpPr>
        <p:spPr bwMode="auto">
          <a:xfrm>
            <a:off x="3111244" y="1391351"/>
            <a:ext cx="1374464" cy="1358475"/>
          </a:xfrm>
          <a:prstGeom prst="ellipse">
            <a:avLst/>
          </a:prstGeom>
          <a:solidFill>
            <a:schemeClr val="accent2">
              <a:lumMod val="100000"/>
            </a:schemeClr>
          </a:solidFill>
          <a:ln w="19050">
            <a:noFill/>
            <a:round/>
          </a:ln>
        </p:spPr>
        <p:txBody>
          <a:bodyPr wrap="none" lIns="89477" tIns="44739" rIns="89477" bIns="44739"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执行阶段</a:t>
            </a:r>
            <a:endPar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4" name="Oval 38"/>
          <p:cNvSpPr>
            <a:spLocks noChangeArrowheads="1"/>
          </p:cNvSpPr>
          <p:nvPr/>
        </p:nvSpPr>
        <p:spPr bwMode="auto">
          <a:xfrm>
            <a:off x="3111244" y="3168835"/>
            <a:ext cx="1374464" cy="1358475"/>
          </a:xfrm>
          <a:prstGeom prst="ellipse">
            <a:avLst/>
          </a:prstGeom>
          <a:solidFill>
            <a:schemeClr val="accent2">
              <a:lumMod val="100000"/>
            </a:schemeClr>
          </a:solidFill>
          <a:ln w="19050">
            <a:noFill/>
            <a:round/>
          </a:ln>
        </p:spPr>
        <p:txBody>
          <a:bodyPr wrap="none" lIns="89477" tIns="44739" rIns="89477" bIns="44739"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中期检查</a:t>
            </a:r>
            <a:endParaRPr kumimoji="0" lang="zh-CN"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5" name="矩形 54"/>
          <p:cNvSpPr/>
          <p:nvPr/>
        </p:nvSpPr>
        <p:spPr>
          <a:xfrm>
            <a:off x="4664075" y="3586480"/>
            <a:ext cx="3661410" cy="334645"/>
          </a:xfrm>
          <a:prstGeom prst="rect">
            <a:avLst/>
          </a:prstGeom>
        </p:spPr>
        <p:txBody>
          <a:bodyPr wrap="square" lIns="89477" tIns="44739" rIns="89477" bIns="44739"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华文黑体" pitchFamily="2" charset="-122"/>
              </a:rPr>
              <a:t>分工开发、集成测试、</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定期汇报与沟通</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56" name="Oval 38"/>
          <p:cNvSpPr>
            <a:spLocks noChangeArrowheads="1"/>
          </p:cNvSpPr>
          <p:nvPr/>
        </p:nvSpPr>
        <p:spPr bwMode="auto">
          <a:xfrm>
            <a:off x="8462723" y="3168835"/>
            <a:ext cx="1374464" cy="1358475"/>
          </a:xfrm>
          <a:prstGeom prst="ellipse">
            <a:avLst/>
          </a:prstGeom>
          <a:solidFill>
            <a:schemeClr val="accent2">
              <a:lumMod val="100000"/>
            </a:schemeClr>
          </a:solidFill>
          <a:ln w="19050">
            <a:noFill/>
            <a:round/>
          </a:ln>
        </p:spPr>
        <p:txBody>
          <a:bodyPr wrap="none" lIns="89477" tIns="44739" rIns="89477" bIns="44739"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收尾阶段</a:t>
            </a:r>
            <a:endPar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7" name="Oval 38"/>
          <p:cNvSpPr>
            <a:spLocks noChangeArrowheads="1"/>
          </p:cNvSpPr>
          <p:nvPr/>
        </p:nvSpPr>
        <p:spPr bwMode="auto">
          <a:xfrm>
            <a:off x="8462723" y="5023648"/>
            <a:ext cx="1374464" cy="1358475"/>
          </a:xfrm>
          <a:prstGeom prst="ellipse">
            <a:avLst/>
          </a:prstGeom>
          <a:solidFill>
            <a:schemeClr val="accent2">
              <a:lumMod val="100000"/>
            </a:schemeClr>
          </a:solidFill>
          <a:ln w="19050">
            <a:noFill/>
            <a:round/>
          </a:ln>
        </p:spPr>
        <p:txBody>
          <a:bodyPr wrap="none" lIns="89477" tIns="44739" rIns="89477" bIns="44739"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实现与优化</a:t>
            </a:r>
            <a:endParaRPr kumimoji="0" lang="zh-CN" altLang="en-US" sz="2135"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58" name="矩形 57"/>
          <p:cNvSpPr/>
          <p:nvPr/>
        </p:nvSpPr>
        <p:spPr>
          <a:xfrm>
            <a:off x="1163734" y="5458648"/>
            <a:ext cx="6893295" cy="334645"/>
          </a:xfrm>
          <a:prstGeom prst="rect">
            <a:avLst/>
          </a:prstGeom>
        </p:spPr>
        <p:txBody>
          <a:bodyPr wrap="square" lIns="89477" tIns="44739" rIns="89477" bIns="44739"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完成全面的系统测试与优化、整理相关文档、实现项目结题</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a:spLocks noChangeArrowheads="1"/>
          </p:cNvSpPr>
          <p:nvPr/>
        </p:nvSpPr>
        <p:spPr bwMode="auto">
          <a:xfrm>
            <a:off x="634918" y="237124"/>
            <a:ext cx="26809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时间计划安排</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3" name="等腰三角形 22"/>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9" name="矩形 28"/>
          <p:cNvSpPr/>
          <p:nvPr/>
        </p:nvSpPr>
        <p:spPr>
          <a:xfrm>
            <a:off x="8556625" y="852805"/>
            <a:ext cx="115125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2025.10</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 name="矩形 1"/>
          <p:cNvSpPr/>
          <p:nvPr/>
        </p:nvSpPr>
        <p:spPr>
          <a:xfrm>
            <a:off x="3202940" y="852805"/>
            <a:ext cx="115125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2025.11</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 name="矩形 2"/>
          <p:cNvSpPr/>
          <p:nvPr/>
        </p:nvSpPr>
        <p:spPr>
          <a:xfrm>
            <a:off x="3202940" y="4689475"/>
            <a:ext cx="115125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2026.03</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 name="矩形 3"/>
          <p:cNvSpPr/>
          <p:nvPr/>
        </p:nvSpPr>
        <p:spPr>
          <a:xfrm>
            <a:off x="9939020" y="4689475"/>
            <a:ext cx="1151255" cy="410845"/>
          </a:xfrm>
          <a:prstGeom prst="rect">
            <a:avLst/>
          </a:prstGeom>
        </p:spPr>
        <p:txBody>
          <a:bodyPr wrap="square" lIns="91440" tIns="45720" rIns="91440" bIns="4572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2026.06</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634918" y="237124"/>
            <a:ext cx="18681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项目分工</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等腰三角形 16"/>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8" name="TextBox 17"/>
          <p:cNvSpPr txBox="1"/>
          <p:nvPr/>
        </p:nvSpPr>
        <p:spPr>
          <a:xfrm>
            <a:off x="5471931" y="3122895"/>
            <a:ext cx="1248139" cy="1313180"/>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265"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项目分工</a:t>
            </a:r>
            <a:endParaRPr kumimoji="0" lang="zh-CN" altLang="en-US" sz="4265"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23" name="组合 22"/>
          <p:cNvGrpSpPr/>
          <p:nvPr>
            <p:custDataLst>
              <p:tags r:id="rId1"/>
            </p:custDataLst>
          </p:nvPr>
        </p:nvGrpSpPr>
        <p:grpSpPr>
          <a:xfrm>
            <a:off x="4434418" y="2111551"/>
            <a:ext cx="3323167" cy="3335868"/>
            <a:chOff x="3325813" y="1973262"/>
            <a:chExt cx="2492375" cy="2501901"/>
          </a:xfrm>
        </p:grpSpPr>
        <p:sp>
          <p:nvSpPr>
            <p:cNvPr id="24" name="Freeform 5"/>
            <p:cNvSpPr/>
            <p:nvPr>
              <p:custDataLst>
                <p:tags r:id="rId2"/>
              </p:custDataLst>
            </p:nvPr>
          </p:nvSpPr>
          <p:spPr bwMode="auto">
            <a:xfrm>
              <a:off x="3325813" y="3276600"/>
              <a:ext cx="1193800" cy="1198563"/>
            </a:xfrm>
            <a:custGeom>
              <a:avLst/>
              <a:gdLst>
                <a:gd name="T0" fmla="*/ 1809 w 4497"/>
                <a:gd name="T1" fmla="*/ 3511 h 4497"/>
                <a:gd name="T2" fmla="*/ 986 w 4497"/>
                <a:gd name="T3" fmla="*/ 3511 h 4497"/>
                <a:gd name="T4" fmla="*/ 986 w 4497"/>
                <a:gd name="T5" fmla="*/ 2687 h 4497"/>
                <a:gd name="T6" fmla="*/ 0 w 4497"/>
                <a:gd name="T7" fmla="*/ 0 h 4497"/>
                <a:gd name="T8" fmla="*/ 1873 w 4497"/>
                <a:gd name="T9" fmla="*/ 0 h 4497"/>
                <a:gd name="T10" fmla="*/ 2721 w 4497"/>
                <a:gd name="T11" fmla="*/ 1776 h 4497"/>
                <a:gd name="T12" fmla="*/ 4497 w 4497"/>
                <a:gd name="T13" fmla="*/ 2624 h 4497"/>
                <a:gd name="T14" fmla="*/ 4497 w 4497"/>
                <a:gd name="T15" fmla="*/ 4497 h 4497"/>
                <a:gd name="T16" fmla="*/ 1809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1809" y="3511"/>
                  </a:moveTo>
                  <a:lnTo>
                    <a:pt x="986" y="3511"/>
                  </a:lnTo>
                  <a:lnTo>
                    <a:pt x="986" y="2687"/>
                  </a:lnTo>
                  <a:cubicBezTo>
                    <a:pt x="369" y="1896"/>
                    <a:pt x="40" y="953"/>
                    <a:pt x="0" y="0"/>
                  </a:cubicBezTo>
                  <a:lnTo>
                    <a:pt x="1873" y="0"/>
                  </a:lnTo>
                  <a:cubicBezTo>
                    <a:pt x="1938" y="644"/>
                    <a:pt x="2222" y="1276"/>
                    <a:pt x="2721" y="1776"/>
                  </a:cubicBezTo>
                  <a:cubicBezTo>
                    <a:pt x="3221" y="2275"/>
                    <a:pt x="3853" y="2558"/>
                    <a:pt x="4497" y="2624"/>
                  </a:cubicBezTo>
                  <a:lnTo>
                    <a:pt x="4497" y="4497"/>
                  </a:lnTo>
                  <a:cubicBezTo>
                    <a:pt x="3544" y="4457"/>
                    <a:pt x="2601" y="4128"/>
                    <a:pt x="1809" y="3511"/>
                  </a:cubicBezTo>
                  <a:close/>
                </a:path>
              </a:pathLst>
            </a:custGeom>
            <a:solidFill>
              <a:schemeClr val="accent2">
                <a:lumMod val="100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25" name="Freeform 6"/>
            <p:cNvSpPr/>
            <p:nvPr>
              <p:custDataLst>
                <p:tags r:id="rId3"/>
              </p:custDataLst>
            </p:nvPr>
          </p:nvSpPr>
          <p:spPr bwMode="auto">
            <a:xfrm>
              <a:off x="3325813" y="1973262"/>
              <a:ext cx="1193800" cy="1196975"/>
            </a:xfrm>
            <a:custGeom>
              <a:avLst/>
              <a:gdLst>
                <a:gd name="T0" fmla="*/ 986 w 4497"/>
                <a:gd name="T1" fmla="*/ 1809 h 4497"/>
                <a:gd name="T2" fmla="*/ 986 w 4497"/>
                <a:gd name="T3" fmla="*/ 986 h 4497"/>
                <a:gd name="T4" fmla="*/ 1809 w 4497"/>
                <a:gd name="T5" fmla="*/ 986 h 4497"/>
                <a:gd name="T6" fmla="*/ 4497 w 4497"/>
                <a:gd name="T7" fmla="*/ 0 h 4497"/>
                <a:gd name="T8" fmla="*/ 4497 w 4497"/>
                <a:gd name="T9" fmla="*/ 1861 h 4497"/>
                <a:gd name="T10" fmla="*/ 2659 w 4497"/>
                <a:gd name="T11" fmla="*/ 2659 h 4497"/>
                <a:gd name="T12" fmla="*/ 1861 w 4497"/>
                <a:gd name="T13" fmla="*/ 4497 h 4497"/>
                <a:gd name="T14" fmla="*/ 0 w 4497"/>
                <a:gd name="T15" fmla="*/ 4497 h 4497"/>
                <a:gd name="T16" fmla="*/ 986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986" y="1809"/>
                  </a:moveTo>
                  <a:lnTo>
                    <a:pt x="986" y="986"/>
                  </a:lnTo>
                  <a:lnTo>
                    <a:pt x="1809" y="986"/>
                  </a:lnTo>
                  <a:cubicBezTo>
                    <a:pt x="2601" y="369"/>
                    <a:pt x="3544" y="40"/>
                    <a:pt x="4497" y="0"/>
                  </a:cubicBezTo>
                  <a:lnTo>
                    <a:pt x="4497" y="1861"/>
                  </a:lnTo>
                  <a:cubicBezTo>
                    <a:pt x="3824" y="1887"/>
                    <a:pt x="3165" y="2152"/>
                    <a:pt x="2659" y="2659"/>
                  </a:cubicBezTo>
                  <a:cubicBezTo>
                    <a:pt x="2152" y="3165"/>
                    <a:pt x="1887" y="3824"/>
                    <a:pt x="1861" y="4497"/>
                  </a:cubicBezTo>
                  <a:lnTo>
                    <a:pt x="0" y="4497"/>
                  </a:lnTo>
                  <a:cubicBezTo>
                    <a:pt x="40" y="3544"/>
                    <a:pt x="369" y="2601"/>
                    <a:pt x="986" y="1809"/>
                  </a:cubicBezTo>
                  <a:close/>
                </a:path>
              </a:pathLst>
            </a:custGeom>
            <a:solidFill>
              <a:schemeClr val="accent2"/>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6" name="Freeform 7"/>
            <p:cNvSpPr/>
            <p:nvPr>
              <p:custDataLst>
                <p:tags r:id="rId4"/>
              </p:custDataLst>
            </p:nvPr>
          </p:nvSpPr>
          <p:spPr bwMode="auto">
            <a:xfrm>
              <a:off x="4624388" y="3276600"/>
              <a:ext cx="1193800" cy="1198563"/>
            </a:xfrm>
            <a:custGeom>
              <a:avLst/>
              <a:gdLst>
                <a:gd name="T0" fmla="*/ 3511 w 4497"/>
                <a:gd name="T1" fmla="*/ 3511 h 4497"/>
                <a:gd name="T2" fmla="*/ 2687 w 4497"/>
                <a:gd name="T3" fmla="*/ 3511 h 4497"/>
                <a:gd name="T4" fmla="*/ 0 w 4497"/>
                <a:gd name="T5" fmla="*/ 4497 h 4497"/>
                <a:gd name="T6" fmla="*/ 0 w 4497"/>
                <a:gd name="T7" fmla="*/ 2636 h 4497"/>
                <a:gd name="T8" fmla="*/ 1838 w 4497"/>
                <a:gd name="T9" fmla="*/ 1838 h 4497"/>
                <a:gd name="T10" fmla="*/ 2636 w 4497"/>
                <a:gd name="T11" fmla="*/ 0 h 4497"/>
                <a:gd name="T12" fmla="*/ 4497 w 4497"/>
                <a:gd name="T13" fmla="*/ 0 h 4497"/>
                <a:gd name="T14" fmla="*/ 3511 w 4497"/>
                <a:gd name="T15" fmla="*/ 2687 h 4497"/>
                <a:gd name="T16" fmla="*/ 3511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3511"/>
                  </a:moveTo>
                  <a:lnTo>
                    <a:pt x="2687" y="3511"/>
                  </a:lnTo>
                  <a:cubicBezTo>
                    <a:pt x="1896" y="4128"/>
                    <a:pt x="953" y="4457"/>
                    <a:pt x="0" y="4497"/>
                  </a:cubicBezTo>
                  <a:lnTo>
                    <a:pt x="0" y="2636"/>
                  </a:lnTo>
                  <a:cubicBezTo>
                    <a:pt x="673" y="2610"/>
                    <a:pt x="1332" y="2345"/>
                    <a:pt x="1838" y="1838"/>
                  </a:cubicBezTo>
                  <a:cubicBezTo>
                    <a:pt x="2345" y="1332"/>
                    <a:pt x="2610" y="673"/>
                    <a:pt x="2636" y="0"/>
                  </a:cubicBezTo>
                  <a:lnTo>
                    <a:pt x="4497" y="0"/>
                  </a:lnTo>
                  <a:cubicBezTo>
                    <a:pt x="4457" y="953"/>
                    <a:pt x="4128" y="1896"/>
                    <a:pt x="3511" y="2687"/>
                  </a:cubicBezTo>
                  <a:lnTo>
                    <a:pt x="3511" y="3511"/>
                  </a:lnTo>
                  <a:close/>
                </a:path>
              </a:pathLst>
            </a:custGeom>
            <a:solidFill>
              <a:schemeClr val="accent2"/>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27" name="Freeform 8"/>
            <p:cNvSpPr/>
            <p:nvPr>
              <p:custDataLst>
                <p:tags r:id="rId5"/>
              </p:custDataLst>
            </p:nvPr>
          </p:nvSpPr>
          <p:spPr bwMode="auto">
            <a:xfrm>
              <a:off x="4624388" y="1973262"/>
              <a:ext cx="1193800" cy="1196975"/>
            </a:xfrm>
            <a:custGeom>
              <a:avLst/>
              <a:gdLst>
                <a:gd name="T0" fmla="*/ 3511 w 4497"/>
                <a:gd name="T1" fmla="*/ 1809 h 4497"/>
                <a:gd name="T2" fmla="*/ 4497 w 4497"/>
                <a:gd name="T3" fmla="*/ 4497 h 4497"/>
                <a:gd name="T4" fmla="*/ 2624 w 4497"/>
                <a:gd name="T5" fmla="*/ 4497 h 4497"/>
                <a:gd name="T6" fmla="*/ 1776 w 4497"/>
                <a:gd name="T7" fmla="*/ 2721 h 4497"/>
                <a:gd name="T8" fmla="*/ 0 w 4497"/>
                <a:gd name="T9" fmla="*/ 1873 h 4497"/>
                <a:gd name="T10" fmla="*/ 0 w 4497"/>
                <a:gd name="T11" fmla="*/ 0 h 4497"/>
                <a:gd name="T12" fmla="*/ 2687 w 4497"/>
                <a:gd name="T13" fmla="*/ 986 h 4497"/>
                <a:gd name="T14" fmla="*/ 3511 w 4497"/>
                <a:gd name="T15" fmla="*/ 986 h 4497"/>
                <a:gd name="T16" fmla="*/ 3511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1809"/>
                  </a:moveTo>
                  <a:cubicBezTo>
                    <a:pt x="4128" y="2601"/>
                    <a:pt x="4457" y="3544"/>
                    <a:pt x="4497" y="4497"/>
                  </a:cubicBezTo>
                  <a:lnTo>
                    <a:pt x="2624" y="4497"/>
                  </a:lnTo>
                  <a:cubicBezTo>
                    <a:pt x="2558" y="3853"/>
                    <a:pt x="2275" y="3221"/>
                    <a:pt x="1776" y="2721"/>
                  </a:cubicBezTo>
                  <a:cubicBezTo>
                    <a:pt x="1276" y="2222"/>
                    <a:pt x="644" y="1938"/>
                    <a:pt x="0" y="1873"/>
                  </a:cubicBezTo>
                  <a:lnTo>
                    <a:pt x="0" y="0"/>
                  </a:lnTo>
                  <a:cubicBezTo>
                    <a:pt x="953" y="40"/>
                    <a:pt x="1896" y="369"/>
                    <a:pt x="2687" y="986"/>
                  </a:cubicBezTo>
                  <a:lnTo>
                    <a:pt x="3511" y="986"/>
                  </a:lnTo>
                  <a:lnTo>
                    <a:pt x="3511" y="1809"/>
                  </a:lnTo>
                  <a:close/>
                </a:path>
              </a:pathLst>
            </a:custGeom>
            <a:solidFill>
              <a:schemeClr val="accent2">
                <a:lumMod val="100000"/>
              </a:schemeClr>
            </a:solidFill>
            <a:ln>
              <a:no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51" name="TextBox 50"/>
            <p:cNvSpPr txBox="1"/>
            <p:nvPr>
              <p:custDataLst>
                <p:tags r:id="rId6"/>
              </p:custDataLst>
            </p:nvPr>
          </p:nvSpPr>
          <p:spPr>
            <a:xfrm>
              <a:off x="3786883" y="2348629"/>
              <a:ext cx="144016" cy="33850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7" name="TextBox 36"/>
            <p:cNvSpPr txBox="1"/>
            <p:nvPr>
              <p:custDataLst>
                <p:tags r:id="rId7"/>
              </p:custDataLst>
            </p:nvPr>
          </p:nvSpPr>
          <p:spPr>
            <a:xfrm>
              <a:off x="5251579" y="2348629"/>
              <a:ext cx="144016" cy="33850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TextBox 34"/>
            <p:cNvSpPr txBox="1"/>
            <p:nvPr>
              <p:custDataLst>
                <p:tags r:id="rId8"/>
              </p:custDataLst>
            </p:nvPr>
          </p:nvSpPr>
          <p:spPr>
            <a:xfrm>
              <a:off x="3786883" y="3767794"/>
              <a:ext cx="144016" cy="33850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TextBox 32"/>
            <p:cNvSpPr txBox="1"/>
            <p:nvPr>
              <p:custDataLst>
                <p:tags r:id="rId9"/>
              </p:custDataLst>
            </p:nvPr>
          </p:nvSpPr>
          <p:spPr>
            <a:xfrm>
              <a:off x="5251579" y="3767794"/>
              <a:ext cx="144016" cy="33850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endParaRPr kumimoji="0" lang="zh-CN" altLang="en-US" sz="293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0" name="TextBox 12"/>
          <p:cNvSpPr>
            <a:spLocks noChangeArrowheads="1"/>
          </p:cNvSpPr>
          <p:nvPr/>
        </p:nvSpPr>
        <p:spPr bwMode="auto">
          <a:xfrm>
            <a:off x="1032510" y="2169795"/>
            <a:ext cx="3550285" cy="125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项目总体规划、任务分配、进度管理</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系统架构设计与后端核心开发</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负责接口规范与模块集成测试</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p:txBody>
      </p:sp>
      <p:sp>
        <p:nvSpPr>
          <p:cNvPr id="75" name="TextBox 17"/>
          <p:cNvSpPr>
            <a:spLocks noChangeArrowheads="1"/>
          </p:cNvSpPr>
          <p:nvPr/>
        </p:nvSpPr>
        <p:spPr bwMode="auto">
          <a:xfrm>
            <a:off x="1054524" y="1732182"/>
            <a:ext cx="168275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项目</a:t>
            </a:r>
            <a:r>
              <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负责人</a:t>
            </a:r>
            <a:endPar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TextBox 12"/>
          <p:cNvSpPr>
            <a:spLocks noChangeArrowheads="1"/>
          </p:cNvSpPr>
          <p:nvPr/>
        </p:nvSpPr>
        <p:spPr bwMode="auto">
          <a:xfrm>
            <a:off x="7963535" y="2176780"/>
            <a:ext cx="3550285" cy="125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负责系统</a:t>
            </a: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Web</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端界面实现与交互设计</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实现作业上传、结果展示、历史记录等前端功能</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调用后端</a:t>
            </a: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API</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实现数据可视化</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p:txBody>
      </p:sp>
      <p:sp>
        <p:nvSpPr>
          <p:cNvPr id="3" name="TextBox 17"/>
          <p:cNvSpPr>
            <a:spLocks noChangeArrowheads="1"/>
          </p:cNvSpPr>
          <p:nvPr/>
        </p:nvSpPr>
        <p:spPr bwMode="auto">
          <a:xfrm>
            <a:off x="7985549" y="1739167"/>
            <a:ext cx="1682751"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前端开发</a:t>
            </a:r>
            <a:endPar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TextBox 12"/>
          <p:cNvSpPr>
            <a:spLocks noChangeArrowheads="1"/>
          </p:cNvSpPr>
          <p:nvPr/>
        </p:nvSpPr>
        <p:spPr bwMode="auto">
          <a:xfrm>
            <a:off x="1032510" y="4504055"/>
            <a:ext cx="3550285" cy="125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负责图像预处理算法实现</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集成</a:t>
            </a: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OCR</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识别引擎</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优化识别精度与速度</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p:txBody>
      </p:sp>
      <p:sp>
        <p:nvSpPr>
          <p:cNvPr id="5" name="TextBox 17"/>
          <p:cNvSpPr>
            <a:spLocks noChangeArrowheads="1"/>
          </p:cNvSpPr>
          <p:nvPr/>
        </p:nvSpPr>
        <p:spPr bwMode="auto">
          <a:xfrm>
            <a:off x="1054735" y="4066540"/>
            <a:ext cx="204724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OCR</a:t>
            </a:r>
            <a:r>
              <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与图像处理</a:t>
            </a:r>
            <a:endPar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TextBox 12"/>
          <p:cNvSpPr>
            <a:spLocks noChangeArrowheads="1"/>
          </p:cNvSpPr>
          <p:nvPr/>
        </p:nvSpPr>
        <p:spPr bwMode="auto">
          <a:xfrm>
            <a:off x="7963535" y="4631055"/>
            <a:ext cx="3550285" cy="125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设计并实现答案匹配与模糊匹配算法</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实现得分计算、结果判定逻辑</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rPr>
              <a:t>负责系统整体测试与性能验证</a:t>
            </a:r>
            <a:endParaRPr kumimoji="0" lang="zh-CN" altLang="en-US" sz="1600" b="0" i="0" u="none" strike="noStrike" kern="1200" cap="none" spc="0" normalizeH="0" baseline="0" noProof="0">
              <a:ln>
                <a:noFill/>
              </a:ln>
              <a:solidFill>
                <a:srgbClr val="595959"/>
              </a:solidFill>
              <a:effectLst/>
              <a:uLnTx/>
              <a:uFillTx/>
              <a:latin typeface="微软雅黑" panose="020B0503020204020204" pitchFamily="34" charset="-122"/>
              <a:ea typeface="微软雅黑" panose="020B0503020204020204" pitchFamily="34" charset="-122"/>
              <a:cs typeface="+mn-cs"/>
            </a:endParaRPr>
          </a:p>
        </p:txBody>
      </p:sp>
      <p:sp>
        <p:nvSpPr>
          <p:cNvPr id="9" name="TextBox 17"/>
          <p:cNvSpPr>
            <a:spLocks noChangeArrowheads="1"/>
          </p:cNvSpPr>
          <p:nvPr/>
        </p:nvSpPr>
        <p:spPr bwMode="auto">
          <a:xfrm>
            <a:off x="7985760" y="4193540"/>
            <a:ext cx="237363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批改算法与系统测试</a:t>
            </a:r>
            <a:endParaRPr kumimoji="0" lang="zh-CN" altLang="en-US" sz="2000" b="1" i="0" u="none" strike="noStrike" kern="120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a:spLocks noChangeArrowheads="1"/>
          </p:cNvSpPr>
          <p:nvPr/>
        </p:nvSpPr>
        <p:spPr bwMode="auto">
          <a:xfrm>
            <a:off x="634917" y="237124"/>
            <a:ext cx="308737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rPr>
              <a:t>预期成果与展望</a:t>
            </a:r>
            <a:endParaRPr kumimoji="0" lang="zh-CN" altLang="en-US" sz="32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28" name="等腰三角形 27"/>
          <p:cNvSpPr>
            <a:spLocks noChangeArrowheads="1"/>
          </p:cNvSpPr>
          <p:nvPr/>
        </p:nvSpPr>
        <p:spPr bwMode="auto">
          <a:xfrm rot="5400000">
            <a:off x="-53049" y="209721"/>
            <a:ext cx="774879" cy="668780"/>
          </a:xfrm>
          <a:prstGeom prst="triangle">
            <a:avLst>
              <a:gd name="adj" fmla="val 50000"/>
            </a:avLst>
          </a:prstGeom>
          <a:solidFill>
            <a:schemeClr val="accent2">
              <a:lumMod val="100000"/>
            </a:schemeClr>
          </a:solidFill>
          <a:ln>
            <a:noFill/>
          </a:ln>
        </p:spPr>
        <p:txBody>
          <a:bodyPr lIns="121917" tIns="60959" rIns="121917" bIns="60959"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2" name="椭圆 21"/>
          <p:cNvSpPr/>
          <p:nvPr/>
        </p:nvSpPr>
        <p:spPr>
          <a:xfrm>
            <a:off x="4969820" y="2445689"/>
            <a:ext cx="2382981" cy="2382981"/>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24" name="直接连接符 23"/>
          <p:cNvCxnSpPr/>
          <p:nvPr/>
        </p:nvCxnSpPr>
        <p:spPr>
          <a:xfrm>
            <a:off x="6161311" y="1941507"/>
            <a:ext cx="0" cy="745277"/>
          </a:xfrm>
          <a:prstGeom prst="line">
            <a:avLst/>
          </a:prstGeom>
          <a:ln w="63500">
            <a:solidFill>
              <a:schemeClr val="accent2"/>
            </a:solidFill>
            <a:head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5" name="直接连接符 24"/>
          <p:cNvCxnSpPr/>
          <p:nvPr/>
        </p:nvCxnSpPr>
        <p:spPr>
          <a:xfrm>
            <a:off x="6161311" y="4562370"/>
            <a:ext cx="0" cy="744000"/>
          </a:xfrm>
          <a:prstGeom prst="line">
            <a:avLst/>
          </a:prstGeom>
          <a:ln w="63500">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6" name="直接连接符 25"/>
          <p:cNvCxnSpPr/>
          <p:nvPr/>
        </p:nvCxnSpPr>
        <p:spPr>
          <a:xfrm rot="5400000">
            <a:off x="7493416" y="3265179"/>
            <a:ext cx="0" cy="744000"/>
          </a:xfrm>
          <a:prstGeom prst="line">
            <a:avLst/>
          </a:prstGeom>
          <a:ln w="63500">
            <a:solidFill>
              <a:schemeClr val="accent2"/>
            </a:solidFill>
            <a:head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9" name="直接连接符 28"/>
          <p:cNvCxnSpPr/>
          <p:nvPr/>
        </p:nvCxnSpPr>
        <p:spPr>
          <a:xfrm rot="5400000">
            <a:off x="4827232" y="3265179"/>
            <a:ext cx="0" cy="744000"/>
          </a:xfrm>
          <a:prstGeom prst="line">
            <a:avLst/>
          </a:prstGeom>
          <a:ln w="63500">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31" name="TextBox 30"/>
          <p:cNvSpPr txBox="1"/>
          <p:nvPr/>
        </p:nvSpPr>
        <p:spPr>
          <a:xfrm>
            <a:off x="6975078" y="1191600"/>
            <a:ext cx="2834637" cy="28702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rPr>
              <a:t>项目目标</a:t>
            </a:r>
            <a:endParaRPr kumimoji="0" lang="zh-CN" altLang="en-US" sz="1865"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p:txBody>
      </p:sp>
      <p:sp>
        <p:nvSpPr>
          <p:cNvPr id="32" name="TextBox 31"/>
          <p:cNvSpPr txBox="1"/>
          <p:nvPr/>
        </p:nvSpPr>
        <p:spPr>
          <a:xfrm>
            <a:off x="6975078" y="1646776"/>
            <a:ext cx="3928588" cy="444500"/>
          </a:xfrm>
          <a:prstGeom prst="rect">
            <a:avLst/>
          </a:prstGeom>
          <a:noFill/>
        </p:spPr>
        <p:txBody>
          <a:bodyPr wrap="square" lIns="0" tIns="0" rIns="0" bIns="0" rtlCol="0">
            <a:spAutoFit/>
          </a:bodyPr>
          <a:lstStyle/>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利用</a:t>
            </a: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OCR</a:t>
            </a: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和算法模型实现教师批改自动化，减少人工工作量</a:t>
            </a: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TextBox 32"/>
          <p:cNvSpPr txBox="1"/>
          <p:nvPr/>
        </p:nvSpPr>
        <p:spPr>
          <a:xfrm>
            <a:off x="5842185" y="1276914"/>
            <a:ext cx="638252" cy="492443"/>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rPr>
              <a:t>01</a:t>
            </a:r>
            <a:endParaRPr kumimoji="0" lang="zh-CN" altLang="en-US" sz="3200"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p:txBody>
      </p:sp>
      <p:sp>
        <p:nvSpPr>
          <p:cNvPr id="34" name="TextBox 33"/>
          <p:cNvSpPr txBox="1"/>
          <p:nvPr/>
        </p:nvSpPr>
        <p:spPr>
          <a:xfrm>
            <a:off x="7961427" y="3390960"/>
            <a:ext cx="638252" cy="492443"/>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02</a:t>
            </a:r>
            <a:endParaRPr kumimoji="0" lang="zh-CN" altLang="en-US" sz="32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35" name="TextBox 34"/>
          <p:cNvSpPr txBox="1"/>
          <p:nvPr/>
        </p:nvSpPr>
        <p:spPr>
          <a:xfrm>
            <a:off x="9051097" y="3042547"/>
            <a:ext cx="1852568" cy="28702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研究意义</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36" name="TextBox 35"/>
          <p:cNvSpPr txBox="1"/>
          <p:nvPr/>
        </p:nvSpPr>
        <p:spPr>
          <a:xfrm>
            <a:off x="9051099" y="3451011"/>
            <a:ext cx="1852568" cy="889635"/>
          </a:xfrm>
          <a:prstGeom prst="rect">
            <a:avLst/>
          </a:prstGeom>
          <a:noFill/>
        </p:spPr>
        <p:txBody>
          <a:bodyPr wrap="square" lIns="0" tIns="0" rIns="0" bIns="0" rtlCol="0">
            <a:spAutoFit/>
          </a:bodyPr>
          <a:lstStyle/>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提高效率、保证客观性</a:t>
            </a:r>
            <a:endPar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批改速度提升</a:t>
            </a: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50%</a:t>
            </a: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以上，统一评判标准，减少人为误差。</a:t>
            </a:r>
            <a:endPar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TextBox 36"/>
          <p:cNvSpPr txBox="1"/>
          <p:nvPr/>
        </p:nvSpPr>
        <p:spPr>
          <a:xfrm>
            <a:off x="5842185" y="5417202"/>
            <a:ext cx="638252" cy="492443"/>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rPr>
              <a:t>03</a:t>
            </a:r>
            <a:endParaRPr kumimoji="0" lang="zh-CN" altLang="en-US" sz="3200"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p:txBody>
      </p:sp>
      <p:sp>
        <p:nvSpPr>
          <p:cNvPr id="38" name="TextBox 37"/>
          <p:cNvSpPr txBox="1"/>
          <p:nvPr/>
        </p:nvSpPr>
        <p:spPr>
          <a:xfrm>
            <a:off x="3780037" y="3390960"/>
            <a:ext cx="638252" cy="492443"/>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04</a:t>
            </a:r>
            <a:endParaRPr kumimoji="0" lang="zh-CN" altLang="en-US" sz="32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39" name="直接连接符 38"/>
          <p:cNvCxnSpPr/>
          <p:nvPr/>
        </p:nvCxnSpPr>
        <p:spPr>
          <a:xfrm>
            <a:off x="6827771" y="1191599"/>
            <a:ext cx="0" cy="112254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3" idx="3"/>
          </p:cNvCxnSpPr>
          <p:nvPr/>
        </p:nvCxnSpPr>
        <p:spPr>
          <a:xfrm>
            <a:off x="6480437" y="1523136"/>
            <a:ext cx="352948" cy="1"/>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929717" y="3063052"/>
            <a:ext cx="0" cy="192324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582382" y="3607859"/>
            <a:ext cx="352949"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433817" y="5045202"/>
            <a:ext cx="0" cy="1063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5433818" y="5663423"/>
            <a:ext cx="352949"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444645" y="5003231"/>
            <a:ext cx="1852568" cy="287020"/>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rPr>
              <a:t>应用价值</a:t>
            </a:r>
            <a:endParaRPr kumimoji="0" lang="zh-CN" altLang="en-US" sz="1865" b="1" i="0" u="none" strike="noStrike" kern="1200" cap="none" spc="0" normalizeH="0" baseline="0" noProof="0" dirty="0">
              <a:ln>
                <a:noFill/>
              </a:ln>
              <a:solidFill>
                <a:srgbClr val="3F3F3F"/>
              </a:solidFill>
              <a:effectLst/>
              <a:uLnTx/>
              <a:uFillTx/>
              <a:latin typeface="微软雅黑" panose="020B0503020204020204" pitchFamily="34" charset="-122"/>
              <a:ea typeface="微软雅黑" panose="020B0503020204020204" pitchFamily="34" charset="-122"/>
              <a:cs typeface="+mn-cs"/>
            </a:endParaRPr>
          </a:p>
        </p:txBody>
      </p:sp>
      <p:sp>
        <p:nvSpPr>
          <p:cNvPr id="46" name="TextBox 45"/>
          <p:cNvSpPr txBox="1"/>
          <p:nvPr/>
        </p:nvSpPr>
        <p:spPr>
          <a:xfrm>
            <a:off x="1391477" y="5458408"/>
            <a:ext cx="3887264" cy="444500"/>
          </a:xfrm>
          <a:prstGeom prst="rect">
            <a:avLst/>
          </a:prstGeom>
          <a:noFill/>
        </p:spPr>
        <p:txBody>
          <a:bodyPr wrap="square" lIns="0" tIns="0" rIns="0" bIns="0" rtlCol="0">
            <a:spAutoFit/>
          </a:bodyPr>
          <a:lstStyle/>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推动教育公平与智能化，让不同地区学生享受一致的作业反馈质量。方便教师一键导入和管理结果</a:t>
            </a:r>
            <a:endPar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7" name="直接连接符 46"/>
          <p:cNvCxnSpPr/>
          <p:nvPr/>
        </p:nvCxnSpPr>
        <p:spPr>
          <a:xfrm>
            <a:off x="3392359" y="2442807"/>
            <a:ext cx="0" cy="200680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3392359" y="3607859"/>
            <a:ext cx="352949"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391477" y="2414588"/>
            <a:ext cx="1852568" cy="287020"/>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未来展望</a:t>
            </a:r>
            <a:endParaRPr kumimoji="0" lang="zh-CN" altLang="en-US" sz="1865"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50" name="TextBox 49"/>
          <p:cNvSpPr txBox="1"/>
          <p:nvPr/>
        </p:nvSpPr>
        <p:spPr>
          <a:xfrm>
            <a:off x="1391477" y="2910567"/>
            <a:ext cx="1834096" cy="1557020"/>
          </a:xfrm>
          <a:prstGeom prst="rect">
            <a:avLst/>
          </a:prstGeom>
          <a:noFill/>
        </p:spPr>
        <p:txBody>
          <a:bodyPr wrap="square" lIns="0" tIns="0" rIns="0" bIns="0" rtlCol="0">
            <a:spAutoFit/>
          </a:bodyPr>
          <a:lstStyle/>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引入大模型辅助主观题批改，借助</a:t>
            </a:r>
            <a:r>
              <a:rPr kumimoji="0" lang="en-US" altLang="zh-CN"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LLM</a:t>
            </a: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实现主观问答与开放性题型分析。</a:t>
            </a:r>
            <a:endPar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457200" rtl="0" eaLnBrk="1" fontAlgn="auto" latinLnBrk="0" hangingPunct="1">
              <a:lnSpc>
                <a:spcPts val="1735"/>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增强个性化学习分析，构建学习画像，形成知识薄弱点智能推荐系统。</a:t>
            </a:r>
            <a:endParaRPr kumimoji="0" lang="zh-CN" altLang="en-US" sz="133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椭圆 22"/>
          <p:cNvSpPr/>
          <p:nvPr/>
        </p:nvSpPr>
        <p:spPr>
          <a:xfrm>
            <a:off x="5062761" y="2538630"/>
            <a:ext cx="2197099" cy="2197099"/>
          </a:xfrm>
          <a:prstGeom prst="ellipse">
            <a:avLst/>
          </a:prstGeom>
          <a:solidFill>
            <a:schemeClr val="accent2">
              <a:lumMod val="10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0" name="TextBox 29"/>
          <p:cNvSpPr txBox="1"/>
          <p:nvPr/>
        </p:nvSpPr>
        <p:spPr>
          <a:xfrm>
            <a:off x="5362594" y="2919035"/>
            <a:ext cx="1597436" cy="14046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26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总结展望</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alphaModFix amt="30000"/>
            <a:extLst>
              <a:ext uri="{28A0092B-C50C-407E-A947-70E740481C1C}">
                <a14:useLocalDpi xmlns:a14="http://schemas.microsoft.com/office/drawing/2010/main" val="0"/>
              </a:ext>
            </a:extLst>
          </a:blip>
          <a:stretch>
            <a:fillRect/>
          </a:stretch>
        </p:blipFill>
        <p:spPr>
          <a:xfrm>
            <a:off x="7787069" y="1651262"/>
            <a:ext cx="4130892" cy="4100064"/>
          </a:xfrm>
          <a:prstGeom prst="rect">
            <a:avLst/>
          </a:prstGeom>
        </p:spPr>
      </p:pic>
      <p:sp>
        <p:nvSpPr>
          <p:cNvPr id="27" name="矩形 26"/>
          <p:cNvSpPr/>
          <p:nvPr/>
        </p:nvSpPr>
        <p:spPr>
          <a:xfrm>
            <a:off x="3295589" y="2989689"/>
            <a:ext cx="7785980" cy="1118319"/>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66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mn-cs"/>
              </a:rPr>
              <a:t>演示完毕 感谢聆听</a:t>
            </a:r>
            <a:r>
              <a:rPr kumimoji="0" lang="zh-CN" altLang="en-US" sz="6665" b="1" i="1"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mn-cs"/>
              </a:rPr>
              <a:t>！</a:t>
            </a:r>
            <a:endParaRPr kumimoji="0" lang="zh-CN" altLang="en-US" sz="6665" b="1" i="1"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连接符 27"/>
          <p:cNvCxnSpPr/>
          <p:nvPr/>
        </p:nvCxnSpPr>
        <p:spPr>
          <a:xfrm flipH="1">
            <a:off x="3407042" y="4223929"/>
            <a:ext cx="6709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reeform 5"/>
          <p:cNvSpPr>
            <a:spLocks noEditPoints="1"/>
          </p:cNvSpPr>
          <p:nvPr/>
        </p:nvSpPr>
        <p:spPr bwMode="auto">
          <a:xfrm>
            <a:off x="1" y="1552169"/>
            <a:ext cx="2387969" cy="3826419"/>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chemeClr val="accent2">
              <a:lumMod val="100000"/>
            </a:schemeClr>
          </a:solidFill>
          <a:ln w="5" cap="flat">
            <a:solidFill>
              <a:schemeClr val="accent2">
                <a:lumMod val="100000"/>
              </a:schemeClr>
            </a:solidFill>
            <a:prstDash val="solid"/>
            <a:miter lim="800000"/>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 name="Freeform 6"/>
          <p:cNvSpPr>
            <a:spLocks noEditPoints="1"/>
          </p:cNvSpPr>
          <p:nvPr/>
        </p:nvSpPr>
        <p:spPr bwMode="auto">
          <a:xfrm>
            <a:off x="2296560" y="2937549"/>
            <a:ext cx="182819" cy="2259004"/>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chemeClr val="accent2">
              <a:lumMod val="100000"/>
            </a:schemeClr>
          </a:solidFill>
          <a:ln>
            <a:solidFill>
              <a:schemeClr val="accent2">
                <a:lumMod val="100000"/>
              </a:schemeClr>
            </a:solidFill>
          </a:ln>
        </p:spPr>
        <p:txBody>
          <a:bodyPr vert="horz" wrap="square" lIns="121920" tIns="60960" rIns="121920" bIns="6096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p:txBody>
      </p:sp>
      <p:sp>
        <p:nvSpPr>
          <p:cNvPr id="7" name="矩形 6"/>
          <p:cNvSpPr/>
          <p:nvPr/>
        </p:nvSpPr>
        <p:spPr>
          <a:xfrm>
            <a:off x="3372002" y="2477576"/>
            <a:ext cx="5097441" cy="378460"/>
          </a:xfrm>
          <a:prstGeom prst="rect">
            <a:avLst/>
          </a:prstGeom>
        </p:spPr>
        <p:txBody>
          <a:bodyPr wrap="square" lIns="91440" tIns="45720" rIns="91440" bIns="4572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65" b="1" dirty="0">
                <a:solidFill>
                  <a:prstClr val="black"/>
                </a:solidFill>
                <a:latin typeface="微软雅黑" panose="020B0503020204020204" pitchFamily="34" charset="-122"/>
                <a:ea typeface="微软雅黑" panose="020B0503020204020204" pitchFamily="34" charset="-122"/>
              </a:rPr>
              <a:t>中国科学技术大学</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2025</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级软件</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学院</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8655" y="1270788"/>
            <a:ext cx="4227754" cy="1197436"/>
          </a:xfrm>
          <a:prstGeom prst="rect">
            <a:avLst/>
          </a:prstGeom>
        </p:spPr>
      </p:pic>
      <p:sp>
        <p:nvSpPr>
          <p:cNvPr id="21" name="矩形 20"/>
          <p:cNvSpPr/>
          <p:nvPr/>
        </p:nvSpPr>
        <p:spPr>
          <a:xfrm>
            <a:off x="3371850" y="4231640"/>
            <a:ext cx="4570730" cy="954405"/>
          </a:xfrm>
          <a:prstGeom prst="rect">
            <a:avLst/>
          </a:prstGeom>
        </p:spPr>
        <p:txBody>
          <a:bodyPr wrap="square" lIns="91440" tIns="45720" rIns="91440" bIns="45720">
            <a:spAutoFit/>
          </a:bodyPr>
          <a:p>
            <a:pPr marL="0" marR="0" lvl="0" indent="0" algn="ctr" defTabSz="457200" rtl="0" eaLnBrk="1" fontAlgn="auto" latinLnBrk="0" hangingPunct="1">
              <a:lnSpc>
                <a:spcPct val="150000"/>
              </a:lnSpc>
              <a:spcBef>
                <a:spcPct val="0"/>
              </a:spcBef>
              <a:spcAft>
                <a:spcPts val="0"/>
              </a:spcAft>
              <a:buClrTx/>
              <a:buSzTx/>
              <a:buFontTx/>
              <a:buNone/>
              <a:defRPr/>
            </a:pP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手写作业</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OCR</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识别与基础批改系统的实现（</a:t>
            </a: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Windows</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版）</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3390108" y="5227502"/>
            <a:ext cx="1845310" cy="378460"/>
          </a:xfrm>
          <a:prstGeom prst="rect">
            <a:avLst/>
          </a:prstGeom>
        </p:spPr>
        <p:txBody>
          <a:bodyPr wrap="none" lIns="91440" tIns="45720" rIns="91440" bIns="4572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答辩人：林睿埼</a:t>
            </a:r>
            <a:endParaRPr kumimoji="1"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TextBox 5"/>
          <p:cNvSpPr txBox="1"/>
          <p:nvPr/>
        </p:nvSpPr>
        <p:spPr>
          <a:xfrm>
            <a:off x="5515816" y="5227502"/>
            <a:ext cx="2068830" cy="378460"/>
          </a:xfrm>
          <a:prstGeom prst="rect">
            <a:avLst/>
          </a:prstGeom>
          <a:noFill/>
        </p:spPr>
        <p:txBody>
          <a:bodyPr wrap="none" lIns="91440" tIns="45720" rIns="91440" bIns="45720"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a:t>
            </a: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a:t>
            </a:r>
            <a:r>
              <a:rPr kumimoji="0" lang="en-US" altLang="zh-CN"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29</a:t>
            </a:r>
            <a:r>
              <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日</a:t>
            </a:r>
            <a:endParaRPr kumimoji="0" lang="zh-CN" altLang="en-US" sz="1865" b="1" i="0" u="none" strike="noStrike" kern="1200" cap="none" spc="0" normalizeH="0" baseline="0" noProof="0" dirty="0">
              <a:ln>
                <a:noFill/>
              </a:ln>
              <a:solidFill>
                <a:schemeClr val="accent2">
                  <a:lumMod val="10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sld>
</file>

<file path=ppt/tags/tag1.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2.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3.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4.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5.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6.xml><?xml version="1.0" encoding="utf-8"?>
<p:tagLst xmlns:p="http://schemas.openxmlformats.org/presentationml/2006/main">
  <p:tag name="KSO_WM_DIAGRAM_VIRTUALLY_FRAME" val="{&quot;height&quot;:321.4150393700787,&quot;left&quot;:256.8307874015748,&quot;top&quot;:141.48188976377952,&quot;width&quot;:563.3645669291338}"/>
</p:tagLst>
</file>

<file path=ppt/tags/tag7.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8.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9.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0.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1.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2.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3.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4.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5.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6.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7.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8.xml><?xml version="1.0" encoding="utf-8"?>
<p:tagLst xmlns:p="http://schemas.openxmlformats.org/presentationml/2006/main">
  <p:tag name="KSO_WM_DIAGRAM_VIRTUALLY_FRAME" val="{&quot;height&quot;:362.7583356342545,&quot;left&quot;:82.41397748238757,&quot;top&quot;:117.08599507440697,&quot;width&quot;:752.2735028325731}"/>
</p:tagLst>
</file>

<file path=ppt/tags/tag19.xml><?xml version="1.0" encoding="utf-8"?>
<p:tagLst xmlns:p="http://schemas.openxmlformats.org/presentationml/2006/main">
  <p:tag name="KSO_WM_DIAGRAM_VIRTUALLY_FRAME" val="{&quot;height&quot;:323.94527559055115,&quot;left&quot;:113.7759842519685,&quot;top&quot;:126.18881889763779,&quot;width&quot;:749.6895275590553}"/>
</p:tagLst>
</file>

<file path=ppt/tags/tag20.xml><?xml version="1.0" encoding="utf-8"?>
<p:tagLst xmlns:p="http://schemas.openxmlformats.org/presentationml/2006/main">
  <p:tag name="KSO_WM_DIAGRAM_VIRTUALLY_FRAME" val="{&quot;height&quot;:323.94527559055115,&quot;left&quot;:113.7759842519685,&quot;top&quot;:126.18881889763779,&quot;width&quot;:749.6895275590553}"/>
</p:tagLst>
</file>

<file path=ppt/tags/tag21.xml><?xml version="1.0" encoding="utf-8"?>
<p:tagLst xmlns:p="http://schemas.openxmlformats.org/presentationml/2006/main">
  <p:tag name="KSO_WM_DIAGRAM_VIRTUALLY_FRAME" val="{&quot;height&quot;:323.94527559055115,&quot;left&quot;:113.7759842519685,&quot;top&quot;:126.18881889763779,&quot;width&quot;:749.6895275590553}"/>
</p:tagLst>
</file>

<file path=ppt/tags/tag22.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3.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4.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5.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6.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7.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8.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29.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30.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31.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32.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33.xml><?xml version="1.0" encoding="utf-8"?>
<p:tagLst xmlns:p="http://schemas.openxmlformats.org/presentationml/2006/main">
  <p:tag name="KSO_WM_DIAGRAM_VIRTUALLY_FRAME" val="{&quot;height&quot;:375.9701574803149,&quot;left&quot;:207.70031496062992,&quot;top&quot;:113.5684251968504,&quot;width&quot;:655.464960629921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a*1_5_1"/>
  <p:tag name="KSO_WM_TEMPLATE_CATEGORY" val="diagram"/>
  <p:tag name="KSO_WM_TEMPLATE_INDEX" val="40492919"/>
  <p:tag name="KSO_WM_UNIT_LAYERLEVEL" val="1_1_1"/>
  <p:tag name="KSO_WM_TAG_VERSION" val="3.0"/>
  <p:tag name="KSO_WM_BEAUTIFY_FLAG" val="#wm#"/>
  <p:tag name="KSO_WM_UNIT_ISCONTENTSTITLE" val="0"/>
  <p:tag name="KSO_WM_UNIT_ISNUMDGMTITLE" val="0"/>
  <p:tag name="KSO_WM_UNIT_NOCLEAR" val="0"/>
  <p:tag name="KSO_WM_UNIT_TYPE" val="l_h_a"/>
  <p:tag name="KSO_WM_UNIT_INDEX" val="1_5_1"/>
  <p:tag name="KSO_WM_DIAGRAM_GROUP_CODE" val="l1-1"/>
  <p:tag name="KSO_WM_DIAGRAM_VERSION" val="3"/>
  <p:tag name="KSO_WM_DIAGRAM_COLOR_TRICK" val="1"/>
  <p:tag name="KSO_WM_DIAGRAM_COLOR_TEXT_CAN_REMOVE" val="n"/>
  <p:tag name="KSO_WM_UNIT_TEXT_TYPE" val="1"/>
  <p:tag name="KSO_WM_DIAGRAM_VIRTUALLY_FRAME" val="{&quot;height&quot;:361.54998779296875,&quot;left&quot;:46.50001220703125,&quot;top&quot;:109.32500610351562,&quot;width&quot;:874.6750271630475}"/>
  <p:tag name="KSO_WM_UNIT_PRESET_TEXT" val="单击添加标题"/>
  <p:tag name="KSO_WM_UNIT_FILL_TYPE" val="1"/>
  <p:tag name="KSO_WM_UNIT_FILL_FORE_SCHEMECOLOR_INDEX" val="5"/>
  <p:tag name="KSO_WM_UNIT_FILL_FORE_SCHEMECOLOR_INDEX_BRIGHTNESS" val="-0.1"/>
  <p:tag name="KSO_WM_DIAGRAM_MAX_ITEMCNT" val="5"/>
  <p:tag name="KSO_WM_DIAGRAM_MIN_ITEMCNT" val="3"/>
  <p:tag name="KSO_WM_DIAGRAM_COLOR_MATCH_VALUE" val="{&quot;shape&quot;:{&quot;fill&quot;:{&quot;solid&quot;:{&quot;brightness&quot;:-0.10000000149011612,&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a*1_4_1"/>
  <p:tag name="KSO_WM_TEMPLATE_CATEGORY" val="diagram"/>
  <p:tag name="KSO_WM_TEMPLATE_INDEX" val="40492919"/>
  <p:tag name="KSO_WM_UNIT_LAYERLEVEL" val="1_1_1"/>
  <p:tag name="KSO_WM_TAG_VERSION" val="3.0"/>
  <p:tag name="KSO_WM_BEAUTIFY_FLAG" val="#wm#"/>
  <p:tag name="KSO_WM_UNIT_ISCONTENTSTITLE" val="0"/>
  <p:tag name="KSO_WM_UNIT_ISNUMDGMTITLE" val="0"/>
  <p:tag name="KSO_WM_UNIT_NOCLEAR" val="0"/>
  <p:tag name="KSO_WM_UNIT_TYPE" val="l_h_a"/>
  <p:tag name="KSO_WM_UNIT_INDEX" val="1_4_1"/>
  <p:tag name="KSO_WM_DIAGRAM_GROUP_CODE" val="l1-1"/>
  <p:tag name="KSO_WM_DIAGRAM_VERSION" val="3"/>
  <p:tag name="KSO_WM_DIAGRAM_COLOR_TRICK" val="1"/>
  <p:tag name="KSO_WM_DIAGRAM_COLOR_TEXT_CAN_REMOVE" val="n"/>
  <p:tag name="KSO_WM_UNIT_TEXT_TYPE" val="1"/>
  <p:tag name="KSO_WM_DIAGRAM_VIRTUALLY_FRAME" val="{&quot;height&quot;:361.54998779296875,&quot;left&quot;:46.50001220703125,&quot;top&quot;:109.32500610351562,&quot;width&quot;:874.6750271630475}"/>
  <p:tag name="KSO_WM_UNIT_PRESET_TEXT" val="单击添加标题"/>
  <p:tag name="KSO_WM_UNIT_FILL_TYPE" val="1"/>
  <p:tag name="KSO_WM_UNIT_FILL_FORE_SCHEMECOLOR_INDEX" val="5"/>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a*1_3_1"/>
  <p:tag name="KSO_WM_TEMPLATE_CATEGORY" val="diagram"/>
  <p:tag name="KSO_WM_TEMPLATE_INDEX" val="40492919"/>
  <p:tag name="KSO_WM_UNIT_LAYERLEVEL" val="1_1_1"/>
  <p:tag name="KSO_WM_TAG_VERSION" val="3.0"/>
  <p:tag name="KSO_WM_BEAUTIFY_FLAG" val="#wm#"/>
  <p:tag name="KSO_WM_UNIT_ISCONTENTSTITLE" val="0"/>
  <p:tag name="KSO_WM_UNIT_ISNUMDGMTITLE" val="0"/>
  <p:tag name="KSO_WM_UNIT_NOCLEAR" val="0"/>
  <p:tag name="KSO_WM_UNIT_TYPE" val="l_h_a"/>
  <p:tag name="KSO_WM_UNIT_INDEX" val="1_3_1"/>
  <p:tag name="KSO_WM_DIAGRAM_GROUP_CODE" val="l1-1"/>
  <p:tag name="KSO_WM_DIAGRAM_VERSION" val="3"/>
  <p:tag name="KSO_WM_DIAGRAM_COLOR_TRICK" val="1"/>
  <p:tag name="KSO_WM_DIAGRAM_COLOR_TEXT_CAN_REMOVE" val="n"/>
  <p:tag name="KSO_WM_UNIT_TEXT_TYPE" val="1"/>
  <p:tag name="KSO_WM_DIAGRAM_VIRTUALLY_FRAME" val="{&quot;height&quot;:361.54998779296875,&quot;left&quot;:46.50001220703125,&quot;top&quot;:109.32500610351562,&quot;width&quot;:874.6750271630475}"/>
  <p:tag name="KSO_WM_UNIT_PRESET_TEXT" val="单击添加标题"/>
  <p:tag name="KSO_WM_UNIT_FILL_TYPE" val="1"/>
  <p:tag name="KSO_WM_UNIT_FILL_FORE_SCHEMECOLOR_INDEX" val="5"/>
  <p:tag name="KSO_WM_UNIT_FILL_FORE_SCHEMECOLOR_INDEX_BRIGHTNESS" val="0.1"/>
  <p:tag name="KSO_WM_DIAGRAM_MAX_ITEMCNT" val="5"/>
  <p:tag name="KSO_WM_DIAGRAM_MIN_ITEMCNT" val="3"/>
  <p:tag name="KSO_WM_DIAGRAM_COLOR_MATCH_VALUE" val="{&quot;shape&quot;:{&quot;fill&quot;:{&quot;solid&quot;:{&quot;brightness&quot;:0.10000000149011612,&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a*1_2_1"/>
  <p:tag name="KSO_WM_TEMPLATE_CATEGORY" val="diagram"/>
  <p:tag name="KSO_WM_TEMPLATE_INDEX" val="40492919"/>
  <p:tag name="KSO_WM_UNIT_LAYERLEVEL" val="1_1_1"/>
  <p:tag name="KSO_WM_TAG_VERSION" val="3.0"/>
  <p:tag name="KSO_WM_BEAUTIFY_FLAG" val="#wm#"/>
  <p:tag name="KSO_WM_UNIT_ISCONTENTSTITLE" val="0"/>
  <p:tag name="KSO_WM_UNIT_ISNUMDGMTITLE" val="0"/>
  <p:tag name="KSO_WM_UNIT_NOCLEAR" val="0"/>
  <p:tag name="KSO_WM_UNIT_TYPE" val="l_h_a"/>
  <p:tag name="KSO_WM_UNIT_INDEX" val="1_2_1"/>
  <p:tag name="KSO_WM_DIAGRAM_GROUP_CODE" val="l1-1"/>
  <p:tag name="KSO_WM_DIAGRAM_VERSION" val="3"/>
  <p:tag name="KSO_WM_DIAGRAM_COLOR_TRICK" val="1"/>
  <p:tag name="KSO_WM_DIAGRAM_COLOR_TEXT_CAN_REMOVE" val="n"/>
  <p:tag name="KSO_WM_UNIT_TEXT_TYPE" val="1"/>
  <p:tag name="KSO_WM_DIAGRAM_VIRTUALLY_FRAME" val="{&quot;height&quot;:361.54998779296875,&quot;left&quot;:46.50001220703125,&quot;top&quot;:109.32500610351562,&quot;width&quot;:874.6750271630475}"/>
  <p:tag name="KSO_WM_UNIT_PRESET_TEXT" val="单击添加标题"/>
  <p:tag name="KSO_WM_UNIT_FILL_TYPE" val="1"/>
  <p:tag name="KSO_WM_UNIT_FILL_FORE_SCHEMECOLOR_INDEX" val="5"/>
  <p:tag name="KSO_WM_UNIT_FILL_FORE_SCHEMECOLOR_INDEX_BRIGHTNESS" val="0.2"/>
  <p:tag name="KSO_WM_DIAGRAM_MAX_ITEMCNT" val="5"/>
  <p:tag name="KSO_WM_DIAGRAM_MIN_ITEMCNT" val="3"/>
  <p:tag name="KSO_WM_DIAGRAM_COLOR_MATCH_VALUE" val="{&quot;shape&quot;:{&quot;fill&quot;:{&quot;solid&quot;:{&quot;brightness&quot;:0.20000000298023224,&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a*1_1_1"/>
  <p:tag name="KSO_WM_TEMPLATE_CATEGORY" val="diagram"/>
  <p:tag name="KSO_WM_TEMPLATE_INDEX" val="40492919"/>
  <p:tag name="KSO_WM_UNIT_LAYERLEVEL" val="1_1_1"/>
  <p:tag name="KSO_WM_TAG_VERSION" val="3.0"/>
  <p:tag name="KSO_WM_BEAUTIFY_FLAG" val="#wm#"/>
  <p:tag name="KSO_WM_UNIT_ISCONTENTSTITLE" val="0"/>
  <p:tag name="KSO_WM_UNIT_ISNUMDGMTITLE" val="0"/>
  <p:tag name="KSO_WM_UNIT_NOCLEAR" val="0"/>
  <p:tag name="KSO_WM_UNIT_TYPE" val="l_h_a"/>
  <p:tag name="KSO_WM_UNIT_INDEX" val="1_1_1"/>
  <p:tag name="KSO_WM_DIAGRAM_GROUP_CODE" val="l1-1"/>
  <p:tag name="KSO_WM_DIAGRAM_VERSION" val="3"/>
  <p:tag name="KSO_WM_DIAGRAM_COLOR_TRICK" val="1"/>
  <p:tag name="KSO_WM_DIAGRAM_COLOR_TEXT_CAN_REMOVE" val="n"/>
  <p:tag name="KSO_WM_UNIT_TEXT_TYPE" val="1"/>
  <p:tag name="KSO_WM_DIAGRAM_VIRTUALLY_FRAME" val="{&quot;height&quot;:361.54998779296875,&quot;left&quot;:46.50001220703125,&quot;top&quot;:109.32500610351562,&quot;width&quot;:874.6750271630475}"/>
  <p:tag name="KSO_WM_UNIT_PRESET_TEXT" val="单击添加标题"/>
  <p:tag name="KSO_WM_UNIT_FILL_TYPE" val="1"/>
  <p:tag name="KSO_WM_UNIT_FILL_FORE_SCHEMECOLOR_INDEX" val="5"/>
  <p:tag name="KSO_WM_UNIT_FILL_FORE_SCHEMECOLOR_INDEX_BRIGHTNESS" val="0.3"/>
  <p:tag name="KSO_WM_DIAGRAM_MAX_ITEMCNT" val="5"/>
  <p:tag name="KSO_WM_DIAGRAM_MIN_ITEMCNT" val="3"/>
  <p:tag name="KSO_WM_DIAGRAM_COLOR_MATCH_VALUE" val="{&quot;shape&quot;:{&quot;fill&quot;:{&quot;solid&quot;:{&quot;brightness&quot;:0.30000001192092896,&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i*1_4_1"/>
  <p:tag name="KSO_WM_TEMPLATE_CATEGORY" val="diagram"/>
  <p:tag name="KSO_WM_TEMPLATE_INDEX" val="40492919"/>
  <p:tag name="KSO_WM_UNIT_LAYERLEVEL" val="1_1_1"/>
  <p:tag name="KSO_WM_TAG_VERSION" val="3.0"/>
  <p:tag name="KSO_WM_BEAUTIFY_FLAG" val="#wm#"/>
  <p:tag name="KSO_WM_UNIT_SUBTYPE" val="d"/>
  <p:tag name="KSO_WM_UNIT_TYPE" val="l_h_i"/>
  <p:tag name="KSO_WM_UNIT_INDEX" val="1_4_1"/>
  <p:tag name="KSO_WM_DIAGRAM_GROUP_CODE" val="l1-1"/>
  <p:tag name="KSO_WM_DIAGRAM_VERSION" val="3"/>
  <p:tag name="KSO_WM_DIAGRAM_COLOR_TRICK" val="1"/>
  <p:tag name="KSO_WM_DIAGRAM_COLOR_TEXT_CAN_REMOVE" val="n"/>
  <p:tag name="KSO_WM_DIAGRAM_VIRTUALLY_FRAME" val="{&quot;height&quot;:361.54998779296875,&quot;left&quot;:46.50001220703125,&quot;top&quot;:109.32500610351562,&quot;width&quot;:874.6750271630475}"/>
  <p:tag name="KSO_WM_UNIT_LINE_FORE_SCHEMECOLOR_INDEX" val="-2"/>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i*1_3_1"/>
  <p:tag name="KSO_WM_TEMPLATE_CATEGORY" val="diagram"/>
  <p:tag name="KSO_WM_TEMPLATE_INDEX" val="40492919"/>
  <p:tag name="KSO_WM_UNIT_LAYERLEVEL" val="1_1_1"/>
  <p:tag name="KSO_WM_TAG_VERSION" val="3.0"/>
  <p:tag name="KSO_WM_BEAUTIFY_FLAG" val="#wm#"/>
  <p:tag name="KSO_WM_UNIT_SUBTYPE" val="d"/>
  <p:tag name="KSO_WM_UNIT_TYPE" val="l_h_i"/>
  <p:tag name="KSO_WM_UNIT_INDEX" val="1_3_1"/>
  <p:tag name="KSO_WM_DIAGRAM_GROUP_CODE" val="l1-1"/>
  <p:tag name="KSO_WM_DIAGRAM_VERSION" val="3"/>
  <p:tag name="KSO_WM_DIAGRAM_COLOR_TRICK" val="1"/>
  <p:tag name="KSO_WM_DIAGRAM_COLOR_TEXT_CAN_REMOVE" val="n"/>
  <p:tag name="KSO_WM_DIAGRAM_VIRTUALLY_FRAME" val="{&quot;height&quot;:361.54998779296875,&quot;left&quot;:46.50001220703125,&quot;top&quot;:109.32500610351562,&quot;width&quot;:874.6750271630475}"/>
  <p:tag name="KSO_WM_UNIT_LINE_FORE_SCHEMECOLOR_INDEX" val="-2"/>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i*1_2_1"/>
  <p:tag name="KSO_WM_TEMPLATE_CATEGORY" val="diagram"/>
  <p:tag name="KSO_WM_TEMPLATE_INDEX" val="40492919"/>
  <p:tag name="KSO_WM_UNIT_LAYERLEVEL" val="1_1_1"/>
  <p:tag name="KSO_WM_TAG_VERSION" val="3.0"/>
  <p:tag name="KSO_WM_BEAUTIFY_FLAG" val="#wm#"/>
  <p:tag name="KSO_WM_UNIT_SUBTYPE" val="d"/>
  <p:tag name="KSO_WM_UNIT_TYPE" val="l_h_i"/>
  <p:tag name="KSO_WM_UNIT_INDEX" val="1_2_1"/>
  <p:tag name="KSO_WM_DIAGRAM_GROUP_CODE" val="l1-1"/>
  <p:tag name="KSO_WM_DIAGRAM_VERSION" val="3"/>
  <p:tag name="KSO_WM_DIAGRAM_COLOR_TRICK" val="1"/>
  <p:tag name="KSO_WM_DIAGRAM_COLOR_TEXT_CAN_REMOVE" val="n"/>
  <p:tag name="KSO_WM_DIAGRAM_VIRTUALLY_FRAME" val="{&quot;height&quot;:361.54998779296875,&quot;left&quot;:46.50001220703125,&quot;top&quot;:109.32500610351562,&quot;width&quot;:874.6750271630475}"/>
  <p:tag name="KSO_WM_UNIT_LINE_FORE_SCHEMECOLOR_INDEX" val="-2"/>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i*1_1_1"/>
  <p:tag name="KSO_WM_TEMPLATE_CATEGORY" val="diagram"/>
  <p:tag name="KSO_WM_TEMPLATE_INDEX" val="40492919"/>
  <p:tag name="KSO_WM_UNIT_LAYERLEVEL" val="1_1_1"/>
  <p:tag name="KSO_WM_TAG_VERSION" val="3.0"/>
  <p:tag name="KSO_WM_BEAUTIFY_FLAG" val="#wm#"/>
  <p:tag name="KSO_WM_UNIT_SUBTYPE" val="d"/>
  <p:tag name="KSO_WM_UNIT_TYPE" val="l_h_i"/>
  <p:tag name="KSO_WM_UNIT_INDEX" val="1_1_1"/>
  <p:tag name="KSO_WM_DIAGRAM_GROUP_CODE" val="l1-1"/>
  <p:tag name="KSO_WM_DIAGRAM_VERSION" val="3"/>
  <p:tag name="KSO_WM_DIAGRAM_COLOR_TRICK" val="1"/>
  <p:tag name="KSO_WM_DIAGRAM_COLOR_TEXT_CAN_REMOVE" val="n"/>
  <p:tag name="KSO_WM_DIAGRAM_VIRTUALLY_FRAME" val="{&quot;height&quot;:361.54998779296875,&quot;left&quot;:46.50001220703125,&quot;top&quot;:109.32500610351562,&quot;width&quot;:874.6750271630475}"/>
  <p:tag name="KSO_WM_UNIT_LINE_FORE_SCHEMECOLOR_INDEX" val="-2"/>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19_3*l_h_i*1_5_1"/>
  <p:tag name="KSO_WM_TEMPLATE_CATEGORY" val="diagram"/>
  <p:tag name="KSO_WM_TEMPLATE_INDEX" val="40492919"/>
  <p:tag name="KSO_WM_UNIT_LAYERLEVEL" val="1_1_1"/>
  <p:tag name="KSO_WM_TAG_VERSION" val="3.0"/>
  <p:tag name="KSO_WM_BEAUTIFY_FLAG" val="#wm#"/>
  <p:tag name="KSO_WM_UNIT_SUBTYPE" val="d"/>
  <p:tag name="KSO_WM_UNIT_TYPE" val="l_h_i"/>
  <p:tag name="KSO_WM_UNIT_INDEX" val="1_5_1"/>
  <p:tag name="KSO_WM_DIAGRAM_GROUP_CODE" val="l1-1"/>
  <p:tag name="KSO_WM_DIAGRAM_VERSION" val="3"/>
  <p:tag name="KSO_WM_DIAGRAM_COLOR_TRICK" val="1"/>
  <p:tag name="KSO_WM_DIAGRAM_COLOR_TEXT_CAN_REMOVE" val="n"/>
  <p:tag name="KSO_WM_DIAGRAM_VIRTUALLY_FRAME" val="{&quot;height&quot;:361.54998779296875,&quot;left&quot;:46.50001220703125,&quot;top&quot;:109.32500610351562,&quot;width&quot;:874.6750271630475}"/>
  <p:tag name="KSO_WM_UNIT_LINE_FORE_SCHEMECOLOR_INDEX" val="-2"/>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6,7,6,7,6,7]}"/>
</p:tagLst>
</file>

<file path=ppt/tags/tag44.xml><?xml version="1.0" encoding="utf-8"?>
<p:tagLst xmlns:p="http://schemas.openxmlformats.org/presentationml/2006/main">
  <p:tag name="KSO_WM_DIAGRAM_VIRTUALLY_FRAME" val="{&quot;height&quot;:124.5,&quot;left&quot;:406.55,&quot;top&quot;:110.25,&quot;width&quot;:496.7}"/>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318_1*m_i*1_1"/>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124.5,&quot;left&quot;:406.55,&quot;top&quot;:110.25,&quot;width&quot;:496.7}"/>
  <p:tag name="KSO_WM_DIAGRAM_COLOR_MATCH_VALUE" val="{&quot;shape&quot;:{&quot;fill&quot;:{&quot;gradient&quot;:[{&quot;brightness&quot;:0.6000000238418579,&quot;colorType&quot;:1,&quot;foreColorIndex&quot;:5,&quot;pos&quot;:0,&quot;transparency&quot;:0.8700000047683716},{&quot;brightness&quot;:0.4000000059604645,&quot;colorType&quot;:1,&quot;foreColorIndex&quot;:5,&quot;pos&quot;:1,&quot;transparency&quot;:0.5}],&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6,7,6,7,6,7]}"/>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30318_1*m_h_a*1_1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124.5,&quot;left&quot;:406.55,&quot;top&quot;:110.25,&quot;width&quot;:496.7}"/>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6,7,6,7,6,7]}"/>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30318_1*m_h_a*1_2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124.5,&quot;left&quot;:406.55,&quot;top&quot;:110.25,&quot;width&quot;:496.7}"/>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6,7,6,7,6,7]}"/>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3"/>
  <p:tag name="KSO_WM_UNIT_ID" val="diagram20230318_1*m_i*1_3"/>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124.5,&quot;left&quot;:406.55,&quot;top&quot;:110.25,&quot;width&quot;:496.7}"/>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6,7,6,7,6,7]}"/>
</p:tagLst>
</file>

<file path=ppt/tags/tag49.xml><?xml version="1.0" encoding="utf-8"?>
<p:tagLst xmlns:p="http://schemas.openxmlformats.org/presentationml/2006/main">
  <p:tag name="KSO_WM_DIAGRAM_VIRTUALLY_FRAME" val="{&quot;height&quot;:124.5,&quot;left&quot;:406.55,&quot;top&quot;:110.25,&quot;width&quot;:496.7}"/>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318_1*m_i*1_2"/>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124.5,&quot;left&quot;:406.55,&quot;top&quot;:110.25,&quot;width&quot;:496.7}"/>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6,7,6,7,6,7]}"/>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1"/>
  <p:tag name="KSO_WM_UNIT_ID" val="diagram20230318_1*m_i*2_1"/>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4.6,&quot;left&quot;:406.55,&quot;top&quot;:170.15,&quot;width&quot;:496.7}"/>
  <p:tag name="KSO_WM_DIAGRAM_COLOR_MATCH_VALUE" val="{&quot;shape&quot;:{&quot;fill&quot;:{&quot;gradient&quot;:[{&quot;brightness&quot;:0.6000000238418579,&quot;colorType&quot;:1,&quot;foreColorIndex&quot;:5,&quot;pos&quot;:0,&quot;transparency&quot;:0.8700000047683716},{&quot;brightness&quot;:0.4000000059604645,&quot;colorType&quot;:1,&quot;foreColorIndex&quot;:5,&quot;pos&quot;:1,&quot;transparency&quot;:0.5}],&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8,8,8,8,8,8]}"/>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2_1_1"/>
  <p:tag name="KSO_WM_UNIT_ID" val="diagram20230318_1*m_h_a*2_1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4.6,&quot;left&quot;:406.55,&quot;top&quot;:170.15,&quot;width&quot;:496.7}"/>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8,8,8,8,8,8]}"/>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2_2_1"/>
  <p:tag name="KSO_WM_UNIT_ID" val="diagram20230318_1*m_h_a*2_2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4.6,&quot;left&quot;:406.55,&quot;top&quot;:170.15,&quot;width&quot;:496.7}"/>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8,8,8,8,8,8]}"/>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2"/>
  <p:tag name="KSO_WM_UNIT_ID" val="diagram20230318_1*m_i*2_2"/>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4.6,&quot;left&quot;:406.55,&quot;top&quot;:170.15,&quot;width&quot;:496.7}"/>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8,8,8,8,8,8]}"/>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3"/>
  <p:tag name="KSO_WM_UNIT_ID" val="diagram20230318_1*m_i*2_3"/>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4.6,&quot;left&quot;:406.55,&quot;top&quot;:170.15,&quot;width&quot;:496.7}"/>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8,8,8,8,8,8]}"/>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3_1"/>
  <p:tag name="KSO_WM_UNIT_ID" val="diagram20230318_1*m_i*3_1"/>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1.85001220703126,&quot;left&quot;:404.02496337890614,&quot;top&quot;:230.3249938964844,&quot;width&quot;:503.9000732421876}"/>
  <p:tag name="KSO_WM_DIAGRAM_COLOR_MATCH_VALUE" val="{&quot;shape&quot;:{&quot;fill&quot;:{&quot;gradient&quot;:[{&quot;brightness&quot;:0.6000000238418579,&quot;colorType&quot;:1,&quot;foreColorIndex&quot;:5,&quot;pos&quot;:0,&quot;transparency&quot;:0.8700000047683716},{&quot;brightness&quot;:0.4000000059604645,&quot;colorType&quot;:1,&quot;foreColorIndex&quot;:5,&quot;pos&quot;:1,&quot;transparency&quot;:0.5}],&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6,6,6,6,6,6]}"/>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3_1_1"/>
  <p:tag name="KSO_WM_UNIT_ID" val="diagram20230318_1*m_h_a*3_1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1.85001220703126,&quot;left&quot;:404.02496337890614,&quot;top&quot;:230.3249938964844,&quot;width&quot;:503.9000732421876}"/>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6,6,6,6,6,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3_2_1"/>
  <p:tag name="KSO_WM_UNIT_ID" val="diagram20230318_1*m_h_a*3_2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1.85001220703126,&quot;left&quot;:404.02496337890614,&quot;top&quot;:230.3249938964844,&quot;width&quot;:503.9000732421876}"/>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6,6,6,6,6,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3_2"/>
  <p:tag name="KSO_WM_UNIT_ID" val="diagram20230318_1*m_i*3_2"/>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1.85001220703126,&quot;left&quot;:404.02496337890614,&quot;top&quot;:230.3249938964844,&quot;width&quot;:503.9000732421876}"/>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6,6,6,6,6,6]}"/>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3_3"/>
  <p:tag name="KSO_WM_UNIT_ID" val="diagram20230318_1*m_i*3_3"/>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1.85001220703126,&quot;left&quot;:404.02496337890614,&quot;top&quot;:230.3249938964844,&quot;width&quot;:503.9000732421876}"/>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6,6,6,6,6,6]}"/>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318_1*m_i*1_2"/>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80.4500122070317,&quot;left&quot;:407.4249633789062,&quot;top&quot;:97.82499389648437,&quot;width&quot;:490.7500732421875}"/>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6,7,6,7,6,7]}"/>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1"/>
  <p:tag name="KSO_WM_UNIT_ID" val="diagram20230318_1*m_i*2_1"/>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8.30001220703161,&quot;left&quot;:406.47496337890624,&quot;top&quot;:172.27499389648438,&quot;width&quot;:506.8000732421875}"/>
  <p:tag name="KSO_WM_DIAGRAM_COLOR_MATCH_VALUE" val="{&quot;shape&quot;:{&quot;fill&quot;:{&quot;gradient&quot;:[{&quot;brightness&quot;:0.6000000238418579,&quot;colorType&quot;:1,&quot;foreColorIndex&quot;:5,&quot;pos&quot;:0,&quot;transparency&quot;:0.8700000047683716},{&quot;brightness&quot;:0.4000000059604645,&quot;colorType&quot;:1,&quot;foreColorIndex&quot;:5,&quot;pos&quot;:1,&quot;transparency&quot;:0.5}],&quot;type&quot;:3},&quot;glow&quot;:{&quot;colorType&quot;:0},&quot;line&quot;:{&quot;type&quot;:0},&quot;shadow&quot;:{&quot;brightness&quot;:0.400000005960464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8,8,8,8,8,8]}"/>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2_1_1"/>
  <p:tag name="KSO_WM_UNIT_ID" val="diagram20230318_1*m_h_a*2_1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8.30001220703161,&quot;left&quot;:406.47496337890624,&quot;top&quot;:172.27499389648438,&quot;width&quot;:506.8000732421875}"/>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8,8,8,8,8,8]}"/>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a"/>
  <p:tag name="KSO_WM_UNIT_INDEX" val="2_2_1"/>
  <p:tag name="KSO_WM_UNIT_ID" val="diagram20230318_1*m_h_a*2_2_1"/>
  <p:tag name="KSO_WM_TEMPLATE_CATEGORY" val="diagram"/>
  <p:tag name="KSO_WM_TEMPLATE_INDEX" val="20230318"/>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8.30001220703161,&quot;left&quot;:406.47496337890624,&quot;top&quot;:172.27499389648438,&quot;width&quot;:506.8000732421875}"/>
  <p:tag name="KSO_WM_DIAGRAM_COLOR_MATCH_VALUE" val="{&quot;shape&quot;:{&quot;fill&quot;:{&quot;gradient&quot;:[{&quot;brightness&quot;:0.15000000596046448,&quot;colorType&quot;:1,&quot;foreColorIndex&quot;:5,&quot;pos&quot;:0,&quot;transparency&quot;:0},{&quot;brightness&quot;:-0.10000000149011612,&quot;colorType&quot;:1,&quot;foreColorIndex&quot;:5,&quot;pos&quot;: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26"/>
  <p:tag name="KSO_WM_UNIT_PRESET_TEXT" val="添加标题"/>
  <p:tag name="KSO_WM_UNIT_FILL_TYPE" val="3"/>
  <p:tag name="KSO_WM_UNIT_TEXT_TYPE" val="1"/>
  <p:tag name="KSO_WM_DIAGRAM_USE_COLOR_VALUE" val="{&quot;color_scheme&quot;:1,&quot;color_type&quot;:1,&quot;theme_color_indexes&quot;:[8,8,8,8,8,8]}"/>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2"/>
  <p:tag name="KSO_WM_UNIT_ID" val="diagram20230318_1*m_i*2_2"/>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8.30001220703161,&quot;left&quot;:406.47496337890624,&quot;top&quot;:172.27499389648438,&quot;width&quot;:506.8000732421875}"/>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8,8,8,8,8,8]}"/>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2_3"/>
  <p:tag name="KSO_WM_UNIT_ID" val="diagram20230318_1*m_i*2_3"/>
  <p:tag name="KSO_WM_TEMPLATE_CATEGORY" val="diagram"/>
  <p:tag name="KSO_WM_TEMPLATE_INDEX" val="20230318"/>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68.30001220703161,&quot;left&quot;:406.47496337890624,&quot;top&quot;:172.27499389648438,&quot;width&quot;:506.8000732421875}"/>
  <p:tag name="KSO_WM_DIAGRAM_COLOR_MATCH_VALUE" val="{&quot;shape&quot;:{&quot;fill&quot;:{&quot;type&quot;:0},&quot;glow&quot;:{&quot;colorType&quot;:0},&quot;line&quot;:{&quot;gradient&quot;:[{&quot;brightness&quot;:0.800000011920929,&quot;colorType&quot;:1,&quot;foreColorIndex&quot;:5,&quot;pos&quot;:0,&quot;transparency&quot;:1},{&quot;brightness&quot;:0.4000000059604645,&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8,8,8,8,8,8]}"/>
</p:tagLst>
</file>

<file path=ppt/tags/tag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8_1*l_h_f*1_1_1"/>
  <p:tag name="KSO_WM_TEMPLATE_CATEGORY" val="diagram"/>
  <p:tag name="KSO_WM_TEMPLATE_INDEX" val="20230928"/>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p:tag name="KSO_WM_UNIT_TEXT_FILL_FORE_SCHEMECOLOR_INDEX" val="1"/>
  <p:tag name="KSO_WM_UNIT_TEXT_FILL_TYPE" val="1"/>
  <p:tag name="KSO_WM_UNIT_TEXT_TYPE" val="1"/>
  <p:tag name="KSO_WM_DIAGRAM_USE_COLOR_VALUE" val="{&quot;color_scheme&quot;:1,&quot;color_type&quot;:1,&quot;theme_color_indexes&quot;:[6,6,6,6,6,6]}"/>
</p:tagLst>
</file>

<file path=ppt/tags/tag68.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8_1*l_h_i*1_1_2"/>
  <p:tag name="KSO_WM_TEMPLATE_CATEGORY" val="diagram"/>
  <p:tag name="KSO_WM_TEMPLATE_INDEX" val="20230928"/>
  <p:tag name="KSO_WM_UNIT_LAYERLEVEL" val="1_1_1"/>
  <p:tag name="KSO_WM_TAG_VERSION" val="3.0"/>
  <p:tag name="KSO_WM_BEAUTIFY_FLAG" val="#wm#"/>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gradient&quot;:[{&quot;brightness&quot;:0.5,&quot;colorType&quot;:1,&quot;foreColorIndex&quot;:5,&quot;pos&quot;:1,&quot;transparency&quot;:0},{&quot;brightness&quot;:0.20000000298023224,&quot;colorType&quot;:1,&quot;foreColorIndex&quot;:5,&quot;pos&quot;:0.23000000417232513,&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6,6,6,6,6,6]}"/>
</p:tagLst>
</file>

<file path=ppt/tags/tag69.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8_1*l_h_i*1_1_1"/>
  <p:tag name="KSO_WM_TEMPLATE_CATEGORY" val="diagram"/>
  <p:tag name="KSO_WM_TEMPLATE_INDEX" val="20230928"/>
  <p:tag name="KSO_WM_UNIT_LAYERLEVEL" val="1_1_1"/>
  <p:tag name="KSO_WM_TAG_VERSION" val="3.0"/>
  <p:tag name="KSO_WM_BEAUTIFY_FLAG" val="#wm#"/>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gradient&quot;:[{&quot;brightness&quot;:0.20000000298023224,&quot;colorType&quot;:1,&quot;foreColorIndex&quot;:5,&quot;pos&quot;:0.699999988079071,&quot;transparency&quot;:0},{&quot;brightness&quot;:0.800000011920929,&quot;colorType&quot;:1,&quot;foreColorIndex&quot;:5,&quot;pos&quot;:0,&quot;transparency&quot;:0},{&quot;brightness&quot;:0,&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6,6,6,6,6,6]}"/>
</p:tagLst>
</file>

<file path=ppt/tags/tag70.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8_1*l_h_i*1_2_2"/>
  <p:tag name="KSO_WM_TEMPLATE_CATEGORY" val="diagram"/>
  <p:tag name="KSO_WM_TEMPLATE_INDEX" val="20230928"/>
  <p:tag name="KSO_WM_UNIT_LAYERLEVEL" val="1_1_1"/>
  <p:tag name="KSO_WM_TAG_VERSION" val="3.0"/>
  <p:tag name="KSO_WM_BEAUTIFY_FLAG" val="#wm#"/>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gradient&quot;:[{&quot;brightness&quot;:0.5,&quot;colorType&quot;:1,&quot;foreColorIndex&quot;:6,&quot;pos&quot;:1,&quot;transparency&quot;:0},{&quot;brightness&quot;:0.20000000298023224,&quot;colorType&quot;:1,&quot;foreColorIndex&quot;:6,&quot;pos&quot;:0.2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6,6,6,6,6,6]}"/>
</p:tagLst>
</file>

<file path=ppt/tags/tag71.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8_1*l_h_i*1_2_1"/>
  <p:tag name="KSO_WM_TEMPLATE_CATEGORY" val="diagram"/>
  <p:tag name="KSO_WM_TEMPLATE_INDEX" val="20230928"/>
  <p:tag name="KSO_WM_UNIT_LAYERLEVEL" val="1_1_1"/>
  <p:tag name="KSO_WM_TAG_VERSION" val="3.0"/>
  <p:tag name="KSO_WM_BEAUTIFY_FLAG" val="#wm#"/>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gradient&quot;:[{&quot;brightness&quot;:0.20000000298023224,&quot;colorType&quot;:1,&quot;foreColorIndex&quot;:6,&quot;pos&quot;:0.699999988079071,&quot;transparency&quot;:0},{&quot;brightness&quot;:0.800000011920929,&quot;colorType&quot;:1,&quot;foreColorIndex&quot;:5,&quot;pos&quot;:0,&quot;transparency&quot;:0},{&quot;brightness&quot;:0,&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6,6,6,6,6,6]}"/>
</p:tagLst>
</file>

<file path=ppt/tags/tag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8_1*l_h_f*1_2_1"/>
  <p:tag name="KSO_WM_TEMPLATE_CATEGORY" val="diagram"/>
  <p:tag name="KSO_WM_TEMPLATE_INDEX" val="20230928"/>
  <p:tag name="KSO_WM_UNIT_LAYERLEVEL" val="1_1_1"/>
  <p:tag name="KSO_WM_TAG_VERSION" val="3.0"/>
  <p:tag name="KSO_WM_BEAUTIFY_FLAG" val="#wm#"/>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p:tag name="KSO_WM_UNIT_TEXT_FILL_FORE_SCHEMECOLOR_INDEX" val="1"/>
  <p:tag name="KSO_WM_UNIT_TEXT_FILL_TYPE" val="1"/>
  <p:tag name="KSO_WM_UNIT_TEXT_TYPE" val="1"/>
  <p:tag name="KSO_WM_DIAGRAM_USE_COLOR_VALUE" val="{&quot;color_scheme&quot;:1,&quot;color_type&quot;:1,&quot;theme_color_indexes&quot;:[6,6,6,6,6,6]}"/>
</p:tagLst>
</file>

<file path=ppt/tags/tag73.xml><?xml version="1.0" encoding="utf-8"?>
<p:tagLst xmlns:p="http://schemas.openxmlformats.org/presentationml/2006/main">
  <p:tag name="KSO_WM_DIAGRAM_VERSION" val="3"/>
  <p:tag name="KSO_WM_DIAGRAM_COLOR_TRICK" val="4"/>
  <p:tag name="KSO_WM_DIAGRAM_COLOR_TEXT_CAN_REMOVE" val="n"/>
  <p:tag name="KSO_WM_UNIT_VALUE" val="115*9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28_1*l_h_x*1_1_1"/>
  <p:tag name="KSO_WM_TEMPLATE_CATEGORY" val="diagram"/>
  <p:tag name="KSO_WM_TEMPLATE_INDEX" val="20230928"/>
  <p:tag name="KSO_WM_UNIT_LAYERLEVEL" val="1_1_1"/>
  <p:tag name="KSO_WM_TAG_VERSION" val="3.0"/>
  <p:tag name="KSO_WM_BEAUTIFY_FLAG" val="#wm#"/>
  <p:tag name="KSO_WM_DIAGRAM_MAX_ITEMCNT" val="6"/>
  <p:tag name="KSO_WM_DIAGRAM_MIN_ITEMCNT" val="2"/>
  <p:tag name="KSO_WM_DIAGRAM_VIRTUALLY_FRAME" val="{&quot;height&quot;:103.85000610351562,&quot;left&quot;:415.0500061035156,&quot;top&quot;:366.0499969482422,&quot;width&quot;:492.7499877929687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6,6,6,6,6,6]}"/>
</p:tagLst>
</file>

<file path=ppt/tags/tag74.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75.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76.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77.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78.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79.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80.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81.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82.xml><?xml version="1.0" encoding="utf-8"?>
<p:tagLst xmlns:p="http://schemas.openxmlformats.org/presentationml/2006/main">
  <p:tag name="KSO_WM_DIAGRAM_VIRTUALLY_FRAME" val="{&quot;height&quot;:291.1984251968504,&quot;left&quot;:102.00527559055118,&quot;top&quot;:145.69881889763778,&quot;width&quot;:752.8045669291339}"/>
</p:tagLst>
</file>

<file path=ppt/tags/tag83.xml><?xml version="1.0" encoding="utf-8"?>
<p:tagLst xmlns:p="http://schemas.openxmlformats.org/presentationml/2006/main">
  <p:tag name="COMMONDATA" val="eyJoZGlkIjoiYWI1M2Y4YjQ0NjZhYjZiYjM3NmJhOTY3ZjI0ZjhlOTcifQ=="/>
  <p:tag name="resource_record_key" val="{&quot;70&quot;:[3428328,3312127,3312254]}"/>
</p:tagLst>
</file>

<file path=ppt/theme/theme1.xml><?xml version="1.0" encoding="utf-8"?>
<a:theme xmlns:a="http://schemas.openxmlformats.org/drawingml/2006/main" name="第一PPT，www.1ppt.com">
  <a:themeElements>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2.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3.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4.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5.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6.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7.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8.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9.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0.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1.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2.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3.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4.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5.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6.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7.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ppt/theme/themeOverride18.xml><?xml version="1.0" encoding="utf-8"?>
<a:themeOverride xmlns:a="http://schemas.openxmlformats.org/drawingml/2006/main">
  <a:clrScheme name="自定义 2">
    <a:dk1>
      <a:srgbClr val="000000"/>
    </a:dk1>
    <a:lt1>
      <a:srgbClr val="FFFFFF"/>
    </a:lt1>
    <a:dk2>
      <a:srgbClr val="3F3F3F"/>
    </a:dk2>
    <a:lt2>
      <a:srgbClr val="E3DED1"/>
    </a:lt2>
    <a:accent1>
      <a:srgbClr val="8FC320"/>
    </a:accent1>
    <a:accent2>
      <a:srgbClr val="03358E"/>
    </a:accent2>
    <a:accent3>
      <a:srgbClr val="414456"/>
    </a:accent3>
    <a:accent4>
      <a:srgbClr val="444455"/>
    </a:accent4>
    <a:accent5>
      <a:srgbClr val="444455"/>
    </a:accent5>
    <a:accent6>
      <a:srgbClr val="7F7F7F"/>
    </a:accent6>
    <a:hlink>
      <a:srgbClr val="02368B"/>
    </a:hlink>
    <a:folHlink>
      <a:srgbClr val="B26B02"/>
    </a:folHlink>
  </a:clrScheme>
</a:themeOverride>
</file>

<file path=docProps/app.xml><?xml version="1.0" encoding="utf-8"?>
<Properties xmlns="http://schemas.openxmlformats.org/officeDocument/2006/extended-properties" xmlns:vt="http://schemas.openxmlformats.org/officeDocument/2006/docPropsVTypes">
  <TotalTime>0</TotalTime>
  <Words>2639</Words>
  <Application>WPS 演示</Application>
  <PresentationFormat>宽屏</PresentationFormat>
  <Paragraphs>328</Paragraphs>
  <Slides>18</Slides>
  <Notes>37</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18</vt:i4>
      </vt:variant>
    </vt:vector>
  </HeadingPairs>
  <TitlesOfParts>
    <vt:vector size="44" baseType="lpstr">
      <vt:lpstr>Arial</vt:lpstr>
      <vt:lpstr>宋体</vt:lpstr>
      <vt:lpstr>Wingdings</vt:lpstr>
      <vt:lpstr>微软雅黑</vt:lpstr>
      <vt:lpstr>隶书</vt:lpstr>
      <vt:lpstr>Arial Black</vt:lpstr>
      <vt:lpstr>Wingdings 2</vt:lpstr>
      <vt:lpstr>幼圆</vt:lpstr>
      <vt:lpstr>Arial</vt:lpstr>
      <vt:lpstr>Calibri</vt:lpstr>
      <vt:lpstr>Calibri</vt:lpstr>
      <vt:lpstr>Arial Unicode MS</vt:lpstr>
      <vt:lpstr>等线</vt:lpstr>
      <vt:lpstr>Times New Roman</vt:lpstr>
      <vt:lpstr>Agency FB</vt:lpstr>
      <vt:lpstr>Arial Black</vt:lpstr>
      <vt:lpstr>华文黑体</vt:lpstr>
      <vt:lpstr>黑体</vt:lpstr>
      <vt:lpstr>Impact</vt:lpstr>
      <vt:lpstr>Swiss911 UCm BT</vt:lpstr>
      <vt:lpstr>Arial Narrow</vt:lpstr>
      <vt:lpstr>Wingdings</vt:lpstr>
      <vt:lpstr>思源黑体 CN Regular</vt:lpstr>
      <vt:lpstr>-apple-system</vt:lpstr>
      <vt:lpstr>Segoe Print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林文光～</cp:lastModifiedBy>
  <cp:revision>76</cp:revision>
  <dcterms:created xsi:type="dcterms:W3CDTF">2020-10-27T11:22:00Z</dcterms:created>
  <dcterms:modified xsi:type="dcterms:W3CDTF">2025-10-27T14:03:45Z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378F5277BC4943479E0F0FB2C7AE8105_12</vt:lpwstr>
  </property>
  <property fmtid="{D5CDD505-2E9C-101B-9397-08002B2CF9AE}" pid="3" name="KSOProductBuildVer">
    <vt:lpwstr>2052-12.1.0.19770</vt:lpwstr>
  </property>
</Properties>
</file>